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4630400" cy="8229600"/>
  <p:notesSz cx="8229600" cy="14630400"/>
  <p:embeddedFontLst>
    <p:embeddedFont>
      <p:font typeface="Noto Serif" panose="020F0502020204030204" pitchFamily="18" charset="0"/>
      <p:regular r:id="rId8"/>
    </p:embeddedFont>
    <p:embeddedFont>
      <p:font typeface="Noto Serif Medium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04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2303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Gold: The Enduring Store of Value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Thousands of years of trust. Decades of outperformance. A new era of demand.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71299"/>
            <a:ext cx="1634728" cy="426244"/>
          </a:xfrm>
          <a:prstGeom prst="roundRect">
            <a:avLst>
              <a:gd name="adj" fmla="val 17880"/>
            </a:avLst>
          </a:prstGeom>
          <a:solidFill>
            <a:srgbClr val="E8E6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29878" y="939284"/>
            <a:ext cx="136255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388269"/>
            <a:ext cx="804029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Gold's Global Rise: 2000–2025</a:t>
            </a:r>
            <a:endParaRPr lang="en-US" sz="4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692360"/>
            <a:ext cx="7876223" cy="457033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231035" y="2664023"/>
            <a:ext cx="31276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Across Every Currency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231035" y="3245168"/>
            <a:ext cx="461307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Gold has risen in </a:t>
            </a: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all major currencies</a:t>
            </a: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since 2000 — a universal hedge.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9231035" y="4175046"/>
            <a:ext cx="4613077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USD: </a:t>
            </a: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+875%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EUR: </a:t>
            </a: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+710%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GBP: </a:t>
            </a: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+1,060%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INR: </a:t>
            </a: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+1,770%</a:t>
            </a:r>
            <a:endParaRPr lang="en-US" sz="17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969359-C949-901A-2F64-CB4EC3E36D80}"/>
              </a:ext>
            </a:extLst>
          </p:cNvPr>
          <p:cNvSpPr/>
          <p:nvPr/>
        </p:nvSpPr>
        <p:spPr>
          <a:xfrm>
            <a:off x="12697691" y="7668491"/>
            <a:ext cx="1932709" cy="561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628" y="517803"/>
            <a:ext cx="2006441" cy="332303"/>
          </a:xfrm>
          <a:prstGeom prst="roundRect">
            <a:avLst>
              <a:gd name="adj" fmla="val 18993"/>
            </a:avLst>
          </a:prstGeom>
          <a:solidFill>
            <a:srgbClr val="E8E6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47261" y="574119"/>
            <a:ext cx="1781175" cy="219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SECULAR BULL MARKET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34628" y="912257"/>
            <a:ext cx="7711916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The Big Long: New All-Time Highs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834628" y="1887974"/>
            <a:ext cx="280463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Accelerating Momentum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4628" y="2336959"/>
            <a:ext cx="4641056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New all-time high closes are </a:t>
            </a:r>
            <a:r>
              <a:rPr lang="en-US" sz="14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surging</a:t>
            </a: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reflecting a structural, not cyclical, bull market.</a:t>
            </a:r>
            <a:endParaRPr lang="en-US" sz="14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1457" y="1907381"/>
            <a:ext cx="7861697" cy="37936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34628" y="6659642"/>
            <a:ext cx="4216598" cy="1052155"/>
          </a:xfrm>
          <a:prstGeom prst="roundRect">
            <a:avLst>
              <a:gd name="adj" fmla="val 7498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413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030010" y="6855023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1970s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30010" y="7241738"/>
            <a:ext cx="3825835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Gold standard ends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06722" y="6659642"/>
            <a:ext cx="4216718" cy="1052155"/>
          </a:xfrm>
          <a:prstGeom prst="roundRect">
            <a:avLst>
              <a:gd name="adj" fmla="val 7498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413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402104" y="6855023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2000s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402104" y="7241738"/>
            <a:ext cx="3825954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Post-crisis rally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9578935" y="6659642"/>
            <a:ext cx="4216718" cy="1052155"/>
          </a:xfrm>
          <a:prstGeom prst="roundRect">
            <a:avLst>
              <a:gd name="adj" fmla="val 7498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413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9774317" y="6855023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2020s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9774317" y="7241738"/>
            <a:ext cx="3825954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Record acceleration</a:t>
            </a:r>
            <a:endParaRPr lang="en-US" sz="14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75505A-AC23-FF03-7707-AC0FE1BDBB76}"/>
              </a:ext>
            </a:extLst>
          </p:cNvPr>
          <p:cNvSpPr/>
          <p:nvPr/>
        </p:nvSpPr>
        <p:spPr>
          <a:xfrm>
            <a:off x="12697691" y="7805023"/>
            <a:ext cx="1932709" cy="4245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628" y="577691"/>
            <a:ext cx="1457920" cy="332303"/>
          </a:xfrm>
          <a:prstGeom prst="roundRect">
            <a:avLst>
              <a:gd name="adj" fmla="val 18993"/>
            </a:avLst>
          </a:prstGeom>
          <a:solidFill>
            <a:srgbClr val="E8E6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47261" y="634008"/>
            <a:ext cx="1232654" cy="219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CENTRAL BANKS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34628" y="972145"/>
            <a:ext cx="5396032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 Strategic Shift to Gold</a:t>
            </a:r>
            <a:endParaRPr lang="en-US" sz="3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628" y="1967270"/>
            <a:ext cx="7593330" cy="36709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93731" y="1947862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Record Buying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893731" y="2396847"/>
            <a:ext cx="4909423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Central banks are accumulating gold at </a:t>
            </a:r>
            <a:r>
              <a:rPr lang="en-US" sz="14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historic rates</a:t>
            </a: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diversifying away from the US dollar.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34628" y="6569273"/>
            <a:ext cx="4216598" cy="1082635"/>
          </a:xfrm>
          <a:prstGeom prst="roundRect">
            <a:avLst>
              <a:gd name="adj" fmla="val 10135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dist="2413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811768" y="6569273"/>
            <a:ext cx="91440" cy="1082635"/>
          </a:xfrm>
          <a:prstGeom prst="roundRect">
            <a:avLst>
              <a:gd name="adj" fmla="val 86279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1113830" y="6779895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2022–2024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13830" y="7166610"/>
            <a:ext cx="3726775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3 consecutive record years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206722" y="6569273"/>
            <a:ext cx="4216718" cy="1082635"/>
          </a:xfrm>
          <a:prstGeom prst="roundRect">
            <a:avLst>
              <a:gd name="adj" fmla="val 10135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dist="2413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183862" y="6569273"/>
            <a:ext cx="91440" cy="1082635"/>
          </a:xfrm>
          <a:prstGeom prst="roundRect">
            <a:avLst>
              <a:gd name="adj" fmla="val 86279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485924" y="6779895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H1 2025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485924" y="7166610"/>
            <a:ext cx="3726894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On pace for another record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9578935" y="6569273"/>
            <a:ext cx="4216718" cy="1082635"/>
          </a:xfrm>
          <a:prstGeom prst="roundRect">
            <a:avLst>
              <a:gd name="adj" fmla="val 10135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dist="2413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9556075" y="6569273"/>
            <a:ext cx="91440" cy="1082635"/>
          </a:xfrm>
          <a:prstGeom prst="roundRect">
            <a:avLst>
              <a:gd name="adj" fmla="val 86279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9858137" y="6779895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Key Buyers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858137" y="7166610"/>
            <a:ext cx="3726894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China, India, Turkey, Poland</a:t>
            </a:r>
            <a:endParaRPr lang="en-US" sz="14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4911BBE-9050-5643-99CE-F0D338261B15}"/>
              </a:ext>
            </a:extLst>
          </p:cNvPr>
          <p:cNvSpPr/>
          <p:nvPr/>
        </p:nvSpPr>
        <p:spPr>
          <a:xfrm>
            <a:off x="12697691" y="7668491"/>
            <a:ext cx="1932709" cy="561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28543"/>
            <a:ext cx="2250877" cy="426244"/>
          </a:xfrm>
          <a:prstGeom prst="roundRect">
            <a:avLst>
              <a:gd name="adj" fmla="val 17880"/>
            </a:avLst>
          </a:prstGeom>
          <a:solidFill>
            <a:srgbClr val="E8E6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29878" y="796528"/>
            <a:ext cx="197870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PORTFOLIO STRATEGY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245513"/>
            <a:ext cx="714791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 New Portfolio Paradigm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630436" y="2294453"/>
            <a:ext cx="6571417" cy="4588431"/>
          </a:xfrm>
          <a:prstGeom prst="roundRect">
            <a:avLst>
              <a:gd name="adj" fmla="val 3559"/>
            </a:avLst>
          </a:prstGeom>
          <a:solidFill>
            <a:srgbClr val="9C92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57250" y="25212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Old 60/40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3130748"/>
            <a:ext cx="6117788" cy="36949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99521" y="25212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New 60/40</a:t>
            </a:r>
            <a:endParaRPr lang="en-US" sz="2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9521" y="3130748"/>
            <a:ext cx="6244709" cy="36934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93790" y="713803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Adding </a:t>
            </a: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gold, Bitcoin &amp; commodities</a:t>
            </a: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improves diversification and inflation resilience.</a:t>
            </a:r>
            <a:endParaRPr lang="en-US" sz="17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6729EF-0A69-D90B-96C9-F6D57F842C79}"/>
              </a:ext>
            </a:extLst>
          </p:cNvPr>
          <p:cNvSpPr/>
          <p:nvPr/>
        </p:nvSpPr>
        <p:spPr>
          <a:xfrm>
            <a:off x="12624955" y="7668491"/>
            <a:ext cx="1932709" cy="561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178</Words>
  <Application>Microsoft Office PowerPoint</Application>
  <PresentationFormat>Custom</PresentationFormat>
  <Paragraphs>40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Noto Serif Medium</vt:lpstr>
      <vt:lpstr>Noto Serif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narayan behera</dc:creator>
  <cp:lastModifiedBy>NARAYAN NIRANJAN BEHERA</cp:lastModifiedBy>
  <cp:revision>2</cp:revision>
  <dcterms:created xsi:type="dcterms:W3CDTF">2026-04-27T17:22:04Z</dcterms:created>
  <dcterms:modified xsi:type="dcterms:W3CDTF">2026-04-27T17:30:43Z</dcterms:modified>
</cp:coreProperties>
</file>