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68" r:id="rId2"/>
    <p:sldId id="270" r:id="rId3"/>
    <p:sldId id="256" r:id="rId4"/>
    <p:sldId id="257" r:id="rId5"/>
    <p:sldId id="258" r:id="rId6"/>
    <p:sldId id="259" r:id="rId7"/>
    <p:sldId id="260" r:id="rId8"/>
    <p:sldId id="261" r:id="rId9"/>
    <p:sldId id="262" r:id="rId10"/>
    <p:sldId id="263" r:id="rId11"/>
    <p:sldId id="264" r:id="rId12"/>
    <p:sldId id="269" r:id="rId13"/>
    <p:sldId id="265" r:id="rId14"/>
    <p:sldId id="266" r:id="rId15"/>
    <p:sldId id="267" r:id="rId16"/>
  </p:sldIdLst>
  <p:sldSz cx="14630400" cy="8229600"/>
  <p:notesSz cx="8229600" cy="14630400"/>
  <p:embeddedFontLst>
    <p:embeddedFont>
      <p:font typeface="ADLaM Display" panose="02010000000000000000" pitchFamily="2" charset="0"/>
      <p:regular r:id="rId18"/>
    </p:embeddedFont>
    <p:embeddedFont>
      <p:font typeface="Montserrat" panose="00000500000000000000" pitchFamily="2"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965" y="6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8054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sv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0C6EA-CBC0-581C-FB5B-A9250EC5CF7A}"/>
              </a:ext>
            </a:extLst>
          </p:cNvPr>
          <p:cNvSpPr txBox="1">
            <a:spLocks/>
          </p:cNvSpPr>
          <p:nvPr/>
        </p:nvSpPr>
        <p:spPr>
          <a:xfrm>
            <a:off x="1524000" y="719797"/>
            <a:ext cx="9144000" cy="23876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cs typeface="Times New Roman" panose="02020603050405020304" pitchFamily="18" charset="0"/>
              </a:rPr>
              <a:t>AIIT- Amity Institute of Information Technology </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9C3FB23-9364-6AD1-4208-01DD629541C2}"/>
              </a:ext>
            </a:extLst>
          </p:cNvPr>
          <p:cNvSpPr txBox="1">
            <a:spLocks/>
          </p:cNvSpPr>
          <p:nvPr/>
        </p:nvSpPr>
        <p:spPr>
          <a:xfrm>
            <a:off x="1524000" y="3602038"/>
            <a:ext cx="9144000" cy="1655762"/>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sz="2800" b="1" dirty="0">
                <a:latin typeface="Times New Roman" panose="02020603050405020304" pitchFamily="18" charset="0"/>
                <a:cs typeface="Times New Roman" panose="02020603050405020304" pitchFamily="18" charset="0"/>
              </a:rPr>
              <a:t>Presents</a:t>
            </a:r>
          </a:p>
          <a:p>
            <a:pPr marL="0" indent="0" algn="ctr">
              <a:buNone/>
            </a:pPr>
            <a:r>
              <a:rPr lang="en-US" sz="2800" b="1" dirty="0">
                <a:latin typeface="Times New Roman" panose="02020603050405020304" pitchFamily="18" charset="0"/>
                <a:cs typeface="Times New Roman" panose="02020603050405020304" pitchFamily="18" charset="0"/>
              </a:rPr>
              <a:t>Student Driven Workshop on Sustainability awareness </a:t>
            </a:r>
            <a:endParaRPr lang="en-IN" sz="2800" b="1" dirty="0">
              <a:latin typeface="Times New Roman" panose="02020603050405020304" pitchFamily="18" charset="0"/>
              <a:cs typeface="Times New Roman" panose="02020603050405020304" pitchFamily="18" charset="0"/>
            </a:endParaRPr>
          </a:p>
        </p:txBody>
      </p:sp>
      <p:pic>
        <p:nvPicPr>
          <p:cNvPr id="4" name="Picture 2">
            <a:extLst>
              <a:ext uri="{FF2B5EF4-FFF2-40B4-BE49-F238E27FC236}">
                <a16:creationId xmlns:a16="http://schemas.microsoft.com/office/drawing/2014/main" id="{8DD1A9E8-D7BC-9DF6-5ECB-1F3B87ED74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5384" y="248309"/>
            <a:ext cx="2228850" cy="94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6368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E0407098-FC0F-0136-A3FB-EE7978824C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2957" y="700268"/>
            <a:ext cx="8229600" cy="6829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121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760720" cy="8229600"/>
          </a:xfrm>
          <a:prstGeom prst="rect">
            <a:avLst/>
          </a:prstGeom>
        </p:spPr>
      </p:pic>
      <p:sp>
        <p:nvSpPr>
          <p:cNvPr id="3" name="Text 0"/>
          <p:cNvSpPr/>
          <p:nvPr/>
        </p:nvSpPr>
        <p:spPr>
          <a:xfrm>
            <a:off x="6244709" y="2750463"/>
            <a:ext cx="6782157"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Clean Water and Sanitation</a:t>
            </a:r>
            <a:endParaRPr lang="en-US" sz="4450" dirty="0"/>
          </a:p>
        </p:txBody>
      </p:sp>
      <p:sp>
        <p:nvSpPr>
          <p:cNvPr id="4" name="Shape 1"/>
          <p:cNvSpPr/>
          <p:nvPr/>
        </p:nvSpPr>
        <p:spPr>
          <a:xfrm>
            <a:off x="6244709" y="3788093"/>
            <a:ext cx="1343501" cy="407075"/>
          </a:xfrm>
          <a:prstGeom prst="roundRect">
            <a:avLst>
              <a:gd name="adj" fmla="val 63869"/>
            </a:avLst>
          </a:prstGeom>
          <a:solidFill>
            <a:srgbClr val="D4E9F7"/>
          </a:solidFill>
          <a:ln/>
        </p:spPr>
        <p:txBody>
          <a:bodyPr/>
          <a:lstStyle/>
          <a:p>
            <a:endParaRPr lang="en-IN"/>
          </a:p>
        </p:txBody>
      </p:sp>
      <p:sp>
        <p:nvSpPr>
          <p:cNvPr id="5" name="Text 2"/>
          <p:cNvSpPr/>
          <p:nvPr/>
        </p:nvSpPr>
        <p:spPr>
          <a:xfrm>
            <a:off x="6374606" y="3852982"/>
            <a:ext cx="1083707" cy="277297"/>
          </a:xfrm>
          <a:prstGeom prst="rect">
            <a:avLst/>
          </a:prstGeom>
          <a:noFill/>
          <a:ln/>
        </p:spPr>
        <p:txBody>
          <a:bodyPr wrap="none" lIns="0" tIns="0" rIns="0" bIns="0" rtlCol="0" anchor="t"/>
          <a:lstStyle/>
          <a:p>
            <a:pPr marL="0" indent="0" algn="l">
              <a:lnSpc>
                <a:spcPts val="2150"/>
              </a:lnSpc>
              <a:buNone/>
            </a:pPr>
            <a:r>
              <a:rPr lang="en-US" sz="1350" dirty="0">
                <a:solidFill>
                  <a:srgbClr val="384653"/>
                </a:solidFill>
                <a:latin typeface="Montserrat" pitchFamily="34" charset="0"/>
                <a:ea typeface="Montserrat" pitchFamily="34" charset="-122"/>
                <a:cs typeface="Montserrat" pitchFamily="34" charset="-120"/>
              </a:rPr>
              <a:t>SDG GOAL 6</a:t>
            </a:r>
            <a:endParaRPr lang="en-US" sz="1350" dirty="0"/>
          </a:p>
        </p:txBody>
      </p:sp>
      <p:sp>
        <p:nvSpPr>
          <p:cNvPr id="6" name="Text 3"/>
          <p:cNvSpPr/>
          <p:nvPr/>
        </p:nvSpPr>
        <p:spPr>
          <a:xfrm>
            <a:off x="6244709" y="4438888"/>
            <a:ext cx="7627382" cy="1040130"/>
          </a:xfrm>
          <a:prstGeom prst="rect">
            <a:avLst/>
          </a:prstGeom>
          <a:noFill/>
          <a:ln/>
        </p:spPr>
        <p:txBody>
          <a:bodyPr wrap="square" lIns="0" tIns="0" rIns="0" bIns="0" rtlCol="0" anchor="t"/>
          <a:lstStyle/>
          <a:p>
            <a:pPr marL="0" indent="0" algn="l">
              <a:lnSpc>
                <a:spcPts val="2700"/>
              </a:lnSpc>
              <a:buNone/>
            </a:pPr>
            <a:r>
              <a:rPr lang="en-US" sz="1700" dirty="0">
                <a:solidFill>
                  <a:srgbClr val="384653"/>
                </a:solidFill>
                <a:latin typeface="Montserrat" pitchFamily="34" charset="0"/>
                <a:ea typeface="Montserrat" pitchFamily="34" charset="-122"/>
                <a:cs typeface="Montserrat" pitchFamily="34" charset="-120"/>
              </a:rPr>
              <a:t>Ensuring access to safe water, sanitation, and hygiene for every person on the planet — a foundation for health, dignity, and sustainable development.</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8309" y="1229201"/>
            <a:ext cx="570154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What Is SDG 6?</a:t>
            </a:r>
            <a:endParaRPr lang="en-US" sz="4450" dirty="0"/>
          </a:p>
        </p:txBody>
      </p:sp>
      <p:pic>
        <p:nvPicPr>
          <p:cNvPr id="3" name="Image 0" descr="preencoded.png"/>
          <p:cNvPicPr>
            <a:picLocks noChangeAspect="1"/>
          </p:cNvPicPr>
          <p:nvPr/>
        </p:nvPicPr>
        <p:blipFill>
          <a:blip r:embed="rId3"/>
          <a:stretch>
            <a:fillRect/>
          </a:stretch>
        </p:blipFill>
        <p:spPr>
          <a:xfrm>
            <a:off x="758309" y="2510552"/>
            <a:ext cx="4246126" cy="4246126"/>
          </a:xfrm>
          <a:prstGeom prst="rect">
            <a:avLst/>
          </a:prstGeom>
        </p:spPr>
      </p:pic>
      <p:sp>
        <p:nvSpPr>
          <p:cNvPr id="4" name="Text 1"/>
          <p:cNvSpPr/>
          <p:nvPr/>
        </p:nvSpPr>
        <p:spPr>
          <a:xfrm>
            <a:off x="5540693" y="2884765"/>
            <a:ext cx="3083838" cy="356235"/>
          </a:xfrm>
          <a:prstGeom prst="rect">
            <a:avLst/>
          </a:prstGeom>
          <a:noFill/>
          <a:ln/>
        </p:spPr>
        <p:txBody>
          <a:bodyPr wrap="none" lIns="0" tIns="0" rIns="0" bIns="0" rtlCol="0" anchor="t"/>
          <a:lstStyle/>
          <a:p>
            <a:pPr marL="0" indent="0" algn="l">
              <a:lnSpc>
                <a:spcPts val="2800"/>
              </a:lnSpc>
              <a:buNone/>
            </a:pPr>
            <a:r>
              <a:rPr lang="en-US" sz="2200" b="1" dirty="0">
                <a:solidFill>
                  <a:srgbClr val="2E3C4E"/>
                </a:solidFill>
                <a:latin typeface="Barlow Bold" pitchFamily="34" charset="0"/>
                <a:ea typeface="Barlow Bold" pitchFamily="34" charset="-122"/>
                <a:cs typeface="Barlow Bold" pitchFamily="34" charset="-120"/>
              </a:rPr>
              <a:t>A Universal Human Right</a:t>
            </a:r>
            <a:endParaRPr lang="en-US" sz="2200" dirty="0"/>
          </a:p>
        </p:txBody>
      </p:sp>
      <p:sp>
        <p:nvSpPr>
          <p:cNvPr id="5" name="Text 2"/>
          <p:cNvSpPr/>
          <p:nvPr/>
        </p:nvSpPr>
        <p:spPr>
          <a:xfrm>
            <a:off x="5540693" y="3457575"/>
            <a:ext cx="8338899" cy="138684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Clean water means safe, accessible drinking water free from contamination. Sanitation means proper management of waste and promotion of hygiene practices. Together, they form a basic human right recognized by the United Nations.</a:t>
            </a:r>
            <a:endParaRPr lang="en-US" sz="1700" dirty="0"/>
          </a:p>
        </p:txBody>
      </p:sp>
      <p:sp>
        <p:nvSpPr>
          <p:cNvPr id="6" name="Shape 3"/>
          <p:cNvSpPr/>
          <p:nvPr/>
        </p:nvSpPr>
        <p:spPr>
          <a:xfrm>
            <a:off x="5540693" y="5088136"/>
            <a:ext cx="8338899" cy="1267182"/>
          </a:xfrm>
          <a:prstGeom prst="roundRect">
            <a:avLst>
              <a:gd name="adj" fmla="val 25647"/>
            </a:avLst>
          </a:prstGeom>
          <a:solidFill>
            <a:srgbClr val="B6D6FC"/>
          </a:solidFill>
          <a:ln/>
        </p:spPr>
        <p:txBody>
          <a:bodyPr/>
          <a:lstStyle/>
          <a:p>
            <a:endParaRPr lang="en-IN"/>
          </a:p>
        </p:txBody>
      </p:sp>
      <p:pic>
        <p:nvPicPr>
          <p:cNvPr id="7" name="Image 1" descr="preencoded.png"/>
          <p:cNvPicPr>
            <a:picLocks noChangeAspect="1"/>
          </p:cNvPicPr>
          <p:nvPr/>
        </p:nvPicPr>
        <p:blipFill>
          <a:blip r:embed="rId4"/>
          <a:stretch>
            <a:fillRect/>
          </a:stretch>
        </p:blipFill>
        <p:spPr>
          <a:xfrm>
            <a:off x="5757267" y="5420678"/>
            <a:ext cx="270748" cy="216575"/>
          </a:xfrm>
          <a:prstGeom prst="rect">
            <a:avLst/>
          </a:prstGeom>
        </p:spPr>
      </p:pic>
      <p:sp>
        <p:nvSpPr>
          <p:cNvPr id="8" name="Text 4"/>
          <p:cNvSpPr/>
          <p:nvPr/>
        </p:nvSpPr>
        <p:spPr>
          <a:xfrm>
            <a:off x="6244590" y="5358765"/>
            <a:ext cx="7418427" cy="693420"/>
          </a:xfrm>
          <a:prstGeom prst="rect">
            <a:avLst/>
          </a:prstGeom>
          <a:noFill/>
          <a:ln/>
        </p:spPr>
        <p:txBody>
          <a:bodyPr wrap="square" lIns="0" tIns="0" rIns="0" bIns="0" rtlCol="0" anchor="t"/>
          <a:lstStyle/>
          <a:p>
            <a:pPr marL="0" indent="0" algn="l">
              <a:lnSpc>
                <a:spcPts val="2700"/>
              </a:lnSpc>
              <a:buNone/>
            </a:pPr>
            <a:r>
              <a:rPr lang="en-US" sz="1700" dirty="0">
                <a:solidFill>
                  <a:srgbClr val="000000"/>
                </a:solidFill>
                <a:latin typeface="Montserrat" pitchFamily="34" charset="0"/>
                <a:ea typeface="Montserrat" pitchFamily="34" charset="-122"/>
                <a:cs typeface="Montserrat" pitchFamily="34" charset="-120"/>
              </a:rPr>
              <a:t>SDG 6 calls on all nations to achieve universal and equitable access to safe drinking water and adequate sanitation by 2030.</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869680" y="0"/>
            <a:ext cx="5760720" cy="8229600"/>
          </a:xfrm>
          <a:prstGeom prst="rect">
            <a:avLst/>
          </a:prstGeom>
        </p:spPr>
      </p:pic>
      <p:sp>
        <p:nvSpPr>
          <p:cNvPr id="3" name="Text 0"/>
          <p:cNvSpPr/>
          <p:nvPr/>
        </p:nvSpPr>
        <p:spPr>
          <a:xfrm>
            <a:off x="639723" y="509945"/>
            <a:ext cx="7864554" cy="1202769"/>
          </a:xfrm>
          <a:prstGeom prst="rect">
            <a:avLst/>
          </a:prstGeom>
          <a:noFill/>
          <a:ln/>
        </p:spPr>
        <p:txBody>
          <a:bodyPr wrap="square" lIns="0" tIns="0" rIns="0" bIns="0" rtlCol="0" anchor="t"/>
          <a:lstStyle/>
          <a:p>
            <a:pPr marL="0" indent="0" algn="l">
              <a:lnSpc>
                <a:spcPts val="4700"/>
              </a:lnSpc>
              <a:buNone/>
            </a:pPr>
            <a:r>
              <a:rPr lang="en-US" sz="3750" b="1" dirty="0">
                <a:solidFill>
                  <a:srgbClr val="2E3C4E"/>
                </a:solidFill>
                <a:latin typeface="Barlow Bold" pitchFamily="34" charset="0"/>
                <a:ea typeface="Barlow Bold" pitchFamily="34" charset="-122"/>
                <a:cs typeface="Barlow Bold" pitchFamily="34" charset="-120"/>
              </a:rPr>
              <a:t>Why Clean Water and Sanitation Matter</a:t>
            </a:r>
            <a:endParaRPr lang="en-US" sz="3750" dirty="0"/>
          </a:p>
        </p:txBody>
      </p:sp>
      <p:sp>
        <p:nvSpPr>
          <p:cNvPr id="4" name="Shape 1"/>
          <p:cNvSpPr/>
          <p:nvPr/>
        </p:nvSpPr>
        <p:spPr>
          <a:xfrm>
            <a:off x="639723" y="1944053"/>
            <a:ext cx="7864554" cy="1328261"/>
          </a:xfrm>
          <a:prstGeom prst="roundRect">
            <a:avLst>
              <a:gd name="adj" fmla="val 20645"/>
            </a:avLst>
          </a:prstGeom>
          <a:solidFill>
            <a:srgbClr val="D4E9F7"/>
          </a:solidFill>
          <a:ln w="7620">
            <a:solidFill>
              <a:srgbClr val="BACFDD"/>
            </a:solidFill>
            <a:prstDash val="solid"/>
          </a:ln>
        </p:spPr>
        <p:txBody>
          <a:bodyPr/>
          <a:lstStyle/>
          <a:p>
            <a:endParaRPr lang="en-IN"/>
          </a:p>
        </p:txBody>
      </p:sp>
      <p:sp>
        <p:nvSpPr>
          <p:cNvPr id="5" name="Text 2"/>
          <p:cNvSpPr/>
          <p:nvPr/>
        </p:nvSpPr>
        <p:spPr>
          <a:xfrm>
            <a:off x="830104" y="2134433"/>
            <a:ext cx="2405301" cy="315873"/>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Barlow Bold" pitchFamily="34" charset="0"/>
                <a:ea typeface="Barlow Bold" pitchFamily="34" charset="-122"/>
                <a:cs typeface="Barlow Bold" pitchFamily="34" charset="-120"/>
              </a:rPr>
              <a:t>🏥</a:t>
            </a:r>
            <a:r>
              <a:rPr lang="en-US" sz="1850" b="1" dirty="0">
                <a:solidFill>
                  <a:srgbClr val="384653"/>
                </a:solidFill>
                <a:latin typeface="Barlow Bold" pitchFamily="34" charset="0"/>
                <a:ea typeface="Barlow Bold" pitchFamily="34" charset="-122"/>
                <a:cs typeface="Barlow Bold" pitchFamily="34" charset="-120"/>
              </a:rPr>
              <a:t> Public Health</a:t>
            </a:r>
            <a:endParaRPr lang="en-US" sz="1850" dirty="0"/>
          </a:p>
        </p:txBody>
      </p:sp>
      <p:sp>
        <p:nvSpPr>
          <p:cNvPr id="6" name="Text 3"/>
          <p:cNvSpPr/>
          <p:nvPr/>
        </p:nvSpPr>
        <p:spPr>
          <a:xfrm>
            <a:off x="830104" y="2542818"/>
            <a:ext cx="7483792" cy="539115"/>
          </a:xfrm>
          <a:prstGeom prst="rect">
            <a:avLst/>
          </a:prstGeom>
          <a:noFill/>
          <a:ln/>
        </p:spPr>
        <p:txBody>
          <a:bodyPr wrap="square" lIns="0" tIns="0" rIns="0" bIns="0" rtlCol="0" anchor="t"/>
          <a:lstStyle/>
          <a:p>
            <a:pPr marL="0" indent="0" algn="l">
              <a:lnSpc>
                <a:spcPts val="2100"/>
              </a:lnSpc>
              <a:buNone/>
            </a:pPr>
            <a:r>
              <a:rPr lang="en-US" sz="1400" dirty="0">
                <a:solidFill>
                  <a:srgbClr val="384653"/>
                </a:solidFill>
                <a:latin typeface="Montserrat" pitchFamily="34" charset="0"/>
                <a:ea typeface="Montserrat" pitchFamily="34" charset="-122"/>
                <a:cs typeface="Montserrat" pitchFamily="34" charset="-120"/>
              </a:rPr>
              <a:t>Prevents deadly diseases like cholera, typhoid, and diarrhea — the leading causes of child mortality worldwide.</a:t>
            </a:r>
            <a:endParaRPr lang="en-US" sz="1400" dirty="0"/>
          </a:p>
        </p:txBody>
      </p:sp>
      <p:sp>
        <p:nvSpPr>
          <p:cNvPr id="7" name="Shape 4"/>
          <p:cNvSpPr/>
          <p:nvPr/>
        </p:nvSpPr>
        <p:spPr>
          <a:xfrm>
            <a:off x="639723" y="3426500"/>
            <a:ext cx="7864554" cy="1328261"/>
          </a:xfrm>
          <a:prstGeom prst="roundRect">
            <a:avLst>
              <a:gd name="adj" fmla="val 20645"/>
            </a:avLst>
          </a:prstGeom>
          <a:solidFill>
            <a:srgbClr val="D4E9F7"/>
          </a:solidFill>
          <a:ln w="7620">
            <a:solidFill>
              <a:srgbClr val="BACFDD"/>
            </a:solidFill>
            <a:prstDash val="solid"/>
          </a:ln>
        </p:spPr>
        <p:txBody>
          <a:bodyPr/>
          <a:lstStyle/>
          <a:p>
            <a:endParaRPr lang="en-IN"/>
          </a:p>
        </p:txBody>
      </p:sp>
      <p:sp>
        <p:nvSpPr>
          <p:cNvPr id="8" name="Text 5"/>
          <p:cNvSpPr/>
          <p:nvPr/>
        </p:nvSpPr>
        <p:spPr>
          <a:xfrm>
            <a:off x="830104" y="3616881"/>
            <a:ext cx="2800826" cy="315873"/>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Barlow Bold" pitchFamily="34" charset="0"/>
                <a:ea typeface="Barlow Bold" pitchFamily="34" charset="-122"/>
                <a:cs typeface="Barlow Bold" pitchFamily="34" charset="-120"/>
              </a:rPr>
              <a:t>🌾</a:t>
            </a:r>
            <a:r>
              <a:rPr lang="en-US" sz="1850" b="1" dirty="0">
                <a:solidFill>
                  <a:srgbClr val="384653"/>
                </a:solidFill>
                <a:latin typeface="Barlow Bold" pitchFamily="34" charset="0"/>
                <a:ea typeface="Barlow Bold" pitchFamily="34" charset="-122"/>
                <a:cs typeface="Barlow Bold" pitchFamily="34" charset="-120"/>
              </a:rPr>
              <a:t> Economy &amp; Agriculture</a:t>
            </a:r>
            <a:endParaRPr lang="en-US" sz="1850" dirty="0"/>
          </a:p>
        </p:txBody>
      </p:sp>
      <p:sp>
        <p:nvSpPr>
          <p:cNvPr id="9" name="Text 6"/>
          <p:cNvSpPr/>
          <p:nvPr/>
        </p:nvSpPr>
        <p:spPr>
          <a:xfrm>
            <a:off x="830104" y="4025265"/>
            <a:ext cx="7483792" cy="539115"/>
          </a:xfrm>
          <a:prstGeom prst="rect">
            <a:avLst/>
          </a:prstGeom>
          <a:noFill/>
          <a:ln/>
        </p:spPr>
        <p:txBody>
          <a:bodyPr wrap="square" lIns="0" tIns="0" rIns="0" bIns="0" rtlCol="0" anchor="t"/>
          <a:lstStyle/>
          <a:p>
            <a:pPr marL="0" indent="0" algn="l">
              <a:lnSpc>
                <a:spcPts val="2100"/>
              </a:lnSpc>
              <a:buNone/>
            </a:pPr>
            <a:r>
              <a:rPr lang="en-US" sz="1400" dirty="0">
                <a:solidFill>
                  <a:srgbClr val="384653"/>
                </a:solidFill>
                <a:latin typeface="Montserrat" pitchFamily="34" charset="0"/>
                <a:ea typeface="Montserrat" pitchFamily="34" charset="-122"/>
                <a:cs typeface="Montserrat" pitchFamily="34" charset="-120"/>
              </a:rPr>
              <a:t>Clean water sustains agriculture, supports industry, and reduces the economic burden of waterborne illness.</a:t>
            </a:r>
            <a:endParaRPr lang="en-US" sz="1400" dirty="0"/>
          </a:p>
        </p:txBody>
      </p:sp>
      <p:sp>
        <p:nvSpPr>
          <p:cNvPr id="10" name="Shape 7"/>
          <p:cNvSpPr/>
          <p:nvPr/>
        </p:nvSpPr>
        <p:spPr>
          <a:xfrm>
            <a:off x="639723" y="4908947"/>
            <a:ext cx="7864554" cy="1328261"/>
          </a:xfrm>
          <a:prstGeom prst="roundRect">
            <a:avLst>
              <a:gd name="adj" fmla="val 20645"/>
            </a:avLst>
          </a:prstGeom>
          <a:solidFill>
            <a:srgbClr val="D4E9F7"/>
          </a:solidFill>
          <a:ln w="7620">
            <a:solidFill>
              <a:srgbClr val="BACFDD"/>
            </a:solidFill>
            <a:prstDash val="solid"/>
          </a:ln>
        </p:spPr>
        <p:txBody>
          <a:bodyPr/>
          <a:lstStyle/>
          <a:p>
            <a:endParaRPr lang="en-IN"/>
          </a:p>
        </p:txBody>
      </p:sp>
      <p:sp>
        <p:nvSpPr>
          <p:cNvPr id="11" name="Text 8"/>
          <p:cNvSpPr/>
          <p:nvPr/>
        </p:nvSpPr>
        <p:spPr>
          <a:xfrm>
            <a:off x="830104" y="5099328"/>
            <a:ext cx="2405301" cy="315873"/>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Barlow Bold" pitchFamily="34" charset="0"/>
                <a:ea typeface="Barlow Bold" pitchFamily="34" charset="-122"/>
                <a:cs typeface="Barlow Bold" pitchFamily="34" charset="-120"/>
              </a:rPr>
              <a:t>♻️</a:t>
            </a:r>
            <a:r>
              <a:rPr lang="en-US" sz="1850" b="1" dirty="0">
                <a:solidFill>
                  <a:srgbClr val="384653"/>
                </a:solidFill>
                <a:latin typeface="Barlow Bold" pitchFamily="34" charset="0"/>
                <a:ea typeface="Barlow Bold" pitchFamily="34" charset="-122"/>
                <a:cs typeface="Barlow Bold" pitchFamily="34" charset="-120"/>
              </a:rPr>
              <a:t> Environment</a:t>
            </a:r>
            <a:endParaRPr lang="en-US" sz="1850" dirty="0"/>
          </a:p>
        </p:txBody>
      </p:sp>
      <p:sp>
        <p:nvSpPr>
          <p:cNvPr id="12" name="Text 9"/>
          <p:cNvSpPr/>
          <p:nvPr/>
        </p:nvSpPr>
        <p:spPr>
          <a:xfrm>
            <a:off x="830104" y="5507712"/>
            <a:ext cx="7483792" cy="539115"/>
          </a:xfrm>
          <a:prstGeom prst="rect">
            <a:avLst/>
          </a:prstGeom>
          <a:noFill/>
          <a:ln/>
        </p:spPr>
        <p:txBody>
          <a:bodyPr wrap="square" lIns="0" tIns="0" rIns="0" bIns="0" rtlCol="0" anchor="t"/>
          <a:lstStyle/>
          <a:p>
            <a:pPr marL="0" indent="0" algn="l">
              <a:lnSpc>
                <a:spcPts val="2100"/>
              </a:lnSpc>
              <a:buNone/>
            </a:pPr>
            <a:r>
              <a:rPr lang="en-US" sz="1400" dirty="0">
                <a:solidFill>
                  <a:srgbClr val="384653"/>
                </a:solidFill>
                <a:latin typeface="Montserrat" pitchFamily="34" charset="0"/>
                <a:ea typeface="Montserrat" pitchFamily="34" charset="-122"/>
                <a:cs typeface="Montserrat" pitchFamily="34" charset="-120"/>
              </a:rPr>
              <a:t>Proper sanitation protects ecosystems, reduces water pollution, and supports sustainable land and resource use.</a:t>
            </a:r>
            <a:endParaRPr lang="en-US" sz="1400" dirty="0"/>
          </a:p>
        </p:txBody>
      </p:sp>
      <p:sp>
        <p:nvSpPr>
          <p:cNvPr id="13" name="Shape 10"/>
          <p:cNvSpPr/>
          <p:nvPr/>
        </p:nvSpPr>
        <p:spPr>
          <a:xfrm>
            <a:off x="639723" y="6391394"/>
            <a:ext cx="7864554" cy="1328261"/>
          </a:xfrm>
          <a:prstGeom prst="roundRect">
            <a:avLst>
              <a:gd name="adj" fmla="val 20645"/>
            </a:avLst>
          </a:prstGeom>
          <a:solidFill>
            <a:srgbClr val="D4E9F7"/>
          </a:solidFill>
          <a:ln w="7620">
            <a:solidFill>
              <a:srgbClr val="BACFDD"/>
            </a:solidFill>
            <a:prstDash val="solid"/>
          </a:ln>
        </p:spPr>
        <p:txBody>
          <a:bodyPr/>
          <a:lstStyle/>
          <a:p>
            <a:endParaRPr lang="en-IN"/>
          </a:p>
        </p:txBody>
      </p:sp>
      <p:sp>
        <p:nvSpPr>
          <p:cNvPr id="14" name="Text 11"/>
          <p:cNvSpPr/>
          <p:nvPr/>
        </p:nvSpPr>
        <p:spPr>
          <a:xfrm>
            <a:off x="830104" y="6581775"/>
            <a:ext cx="2405301" cy="315873"/>
          </a:xfrm>
          <a:prstGeom prst="rect">
            <a:avLst/>
          </a:prstGeom>
          <a:noFill/>
          <a:ln/>
        </p:spPr>
        <p:txBody>
          <a:bodyPr wrap="none" lIns="0" tIns="0" rIns="0" bIns="0" rtlCol="0" anchor="t"/>
          <a:lstStyle/>
          <a:p>
            <a:pPr marL="0" indent="0" algn="l">
              <a:lnSpc>
                <a:spcPts val="2350"/>
              </a:lnSpc>
              <a:buNone/>
            </a:pPr>
            <a:r>
              <a:rPr lang="en-US" sz="1850" b="1" dirty="0">
                <a:solidFill>
                  <a:srgbClr val="000000"/>
                </a:solidFill>
                <a:latin typeface="Barlow Bold" pitchFamily="34" charset="0"/>
                <a:ea typeface="Barlow Bold" pitchFamily="34" charset="-122"/>
                <a:cs typeface="Barlow Bold" pitchFamily="34" charset="-120"/>
              </a:rPr>
              <a:t>📈</a:t>
            </a:r>
            <a:r>
              <a:rPr lang="en-US" sz="1850" b="1" dirty="0">
                <a:solidFill>
                  <a:srgbClr val="384653"/>
                </a:solidFill>
                <a:latin typeface="Barlow Bold" pitchFamily="34" charset="0"/>
                <a:ea typeface="Barlow Bold" pitchFamily="34" charset="-122"/>
                <a:cs typeface="Barlow Bold" pitchFamily="34" charset="-120"/>
              </a:rPr>
              <a:t> Poverty Reduction</a:t>
            </a:r>
            <a:endParaRPr lang="en-US" sz="1850" dirty="0"/>
          </a:p>
        </p:txBody>
      </p:sp>
      <p:sp>
        <p:nvSpPr>
          <p:cNvPr id="15" name="Text 12"/>
          <p:cNvSpPr/>
          <p:nvPr/>
        </p:nvSpPr>
        <p:spPr>
          <a:xfrm>
            <a:off x="830104" y="6990159"/>
            <a:ext cx="7483792" cy="539115"/>
          </a:xfrm>
          <a:prstGeom prst="rect">
            <a:avLst/>
          </a:prstGeom>
          <a:noFill/>
          <a:ln/>
        </p:spPr>
        <p:txBody>
          <a:bodyPr wrap="square" lIns="0" tIns="0" rIns="0" bIns="0" rtlCol="0" anchor="t"/>
          <a:lstStyle/>
          <a:p>
            <a:pPr marL="0" indent="0" algn="l">
              <a:lnSpc>
                <a:spcPts val="2100"/>
              </a:lnSpc>
              <a:buNone/>
            </a:pPr>
            <a:r>
              <a:rPr lang="en-US" sz="1400" dirty="0">
                <a:solidFill>
                  <a:srgbClr val="384653"/>
                </a:solidFill>
                <a:latin typeface="Montserrat" pitchFamily="34" charset="0"/>
                <a:ea typeface="Montserrat" pitchFamily="34" charset="-122"/>
                <a:cs typeface="Montserrat" pitchFamily="34" charset="-120"/>
              </a:rPr>
              <a:t>Access to water and sanitation unlocks time, health, and economic opportunity — especially for women and girls.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1000" fill="hold"/>
                                        <p:tgtEl>
                                          <p:spTgt spid="14"/>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000"/>
                                        <p:tgtEl>
                                          <p:spTgt spid="15"/>
                                        </p:tgtEl>
                                      </p:cBhvr>
                                    </p:animEffect>
                                    <p:anim calcmode="lin" valueType="num">
                                      <p:cBhvr>
                                        <p:cTn id="69" dur="1000" fill="hold"/>
                                        <p:tgtEl>
                                          <p:spTgt spid="15"/>
                                        </p:tgtEl>
                                        <p:attrNameLst>
                                          <p:attrName>ppt_x</p:attrName>
                                        </p:attrNameLst>
                                      </p:cBhvr>
                                      <p:tavLst>
                                        <p:tav tm="0">
                                          <p:val>
                                            <p:strVal val="#ppt_x"/>
                                          </p:val>
                                        </p:tav>
                                        <p:tav tm="100000">
                                          <p:val>
                                            <p:strVal val="#ppt_x"/>
                                          </p:val>
                                        </p:tav>
                                      </p:tavLst>
                                    </p:anim>
                                    <p:anim calcmode="lin" valueType="num">
                                      <p:cBhvr>
                                        <p:cTn id="70" dur="1000" fill="hold"/>
                                        <p:tgtEl>
                                          <p:spTgt spid="15"/>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1000"/>
                                        <p:tgtEl>
                                          <p:spTgt spid="13"/>
                                        </p:tgtEl>
                                      </p:cBhvr>
                                    </p:animEffect>
                                    <p:anim calcmode="lin" valueType="num">
                                      <p:cBhvr>
                                        <p:cTn id="74" dur="1000" fill="hold"/>
                                        <p:tgtEl>
                                          <p:spTgt spid="13"/>
                                        </p:tgtEl>
                                        <p:attrNameLst>
                                          <p:attrName>ppt_x</p:attrName>
                                        </p:attrNameLst>
                                      </p:cBhvr>
                                      <p:tavLst>
                                        <p:tav tm="0">
                                          <p:val>
                                            <p:strVal val="#ppt_x"/>
                                          </p:val>
                                        </p:tav>
                                        <p:tav tm="100000">
                                          <p:val>
                                            <p:strVal val="#ppt_x"/>
                                          </p:val>
                                        </p:tav>
                                      </p:tavLst>
                                    </p:anim>
                                    <p:anim calcmode="lin" valueType="num">
                                      <p:cBhvr>
                                        <p:cTn id="7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045131" y="543282"/>
            <a:ext cx="6111597" cy="567928"/>
          </a:xfrm>
          <a:prstGeom prst="rect">
            <a:avLst/>
          </a:prstGeom>
          <a:noFill/>
          <a:ln/>
        </p:spPr>
        <p:txBody>
          <a:bodyPr wrap="none" lIns="0" tIns="0" rIns="0" bIns="0" rtlCol="0" anchor="t"/>
          <a:lstStyle/>
          <a:p>
            <a:pPr marL="0" indent="0" algn="l">
              <a:lnSpc>
                <a:spcPts val="4450"/>
              </a:lnSpc>
              <a:buNone/>
            </a:pPr>
            <a:r>
              <a:rPr lang="en-US" sz="3550" b="1" dirty="0">
                <a:solidFill>
                  <a:srgbClr val="2E3C4E"/>
                </a:solidFill>
                <a:latin typeface="Barlow Bold" pitchFamily="34" charset="0"/>
                <a:ea typeface="Barlow Bold" pitchFamily="34" charset="-122"/>
                <a:cs typeface="Barlow Bold" pitchFamily="34" charset="-120"/>
              </a:rPr>
              <a:t>The Challenges We Face Today</a:t>
            </a:r>
            <a:endParaRPr lang="en-US" sz="3550" dirty="0"/>
          </a:p>
        </p:txBody>
      </p:sp>
      <p:pic>
        <p:nvPicPr>
          <p:cNvPr id="3" name="Image 0" descr="preencoded.png"/>
          <p:cNvPicPr>
            <a:picLocks noChangeAspect="1"/>
          </p:cNvPicPr>
          <p:nvPr/>
        </p:nvPicPr>
        <p:blipFill>
          <a:blip r:embed="rId3"/>
          <a:stretch>
            <a:fillRect/>
          </a:stretch>
        </p:blipFill>
        <p:spPr>
          <a:xfrm>
            <a:off x="1045131" y="1472208"/>
            <a:ext cx="6059329" cy="6059329"/>
          </a:xfrm>
          <a:prstGeom prst="rect">
            <a:avLst/>
          </a:prstGeom>
        </p:spPr>
      </p:pic>
      <p:pic>
        <p:nvPicPr>
          <p:cNvPr id="4" name="Image 1" descr="preencoded.png"/>
          <p:cNvPicPr>
            <a:picLocks noChangeAspect="1"/>
          </p:cNvPicPr>
          <p:nvPr/>
        </p:nvPicPr>
        <p:blipFill>
          <a:blip r:embed="rId4"/>
          <a:stretch>
            <a:fillRect/>
          </a:stretch>
        </p:blipFill>
        <p:spPr>
          <a:xfrm>
            <a:off x="1045131" y="1472208"/>
            <a:ext cx="6059329" cy="6059329"/>
          </a:xfrm>
          <a:prstGeom prst="rect">
            <a:avLst/>
          </a:prstGeom>
        </p:spPr>
      </p:pic>
      <p:sp>
        <p:nvSpPr>
          <p:cNvPr id="5" name="Text 1"/>
          <p:cNvSpPr/>
          <p:nvPr/>
        </p:nvSpPr>
        <p:spPr>
          <a:xfrm>
            <a:off x="7533323" y="3141464"/>
            <a:ext cx="3350895" cy="283964"/>
          </a:xfrm>
          <a:prstGeom prst="rect">
            <a:avLst/>
          </a:prstGeom>
          <a:noFill/>
          <a:ln/>
        </p:spPr>
        <p:txBody>
          <a:bodyPr wrap="none" lIns="0" tIns="0" rIns="0" bIns="0" rtlCol="0" anchor="t"/>
          <a:lstStyle/>
          <a:p>
            <a:pPr marL="0" indent="0" algn="l">
              <a:lnSpc>
                <a:spcPts val="2200"/>
              </a:lnSpc>
              <a:buNone/>
            </a:pPr>
            <a:r>
              <a:rPr lang="en-US" sz="1750" b="1" dirty="0">
                <a:solidFill>
                  <a:srgbClr val="2E3C4E"/>
                </a:solidFill>
                <a:latin typeface="Barlow Bold" pitchFamily="34" charset="0"/>
                <a:ea typeface="Barlow Bold" pitchFamily="34" charset="-122"/>
                <a:cs typeface="Barlow Bold" pitchFamily="34" charset="-120"/>
              </a:rPr>
              <a:t>A Complex, Interconnected Crisis</a:t>
            </a:r>
            <a:endParaRPr lang="en-US" sz="1750" dirty="0"/>
          </a:p>
        </p:txBody>
      </p:sp>
      <p:sp>
        <p:nvSpPr>
          <p:cNvPr id="6" name="Text 2"/>
          <p:cNvSpPr/>
          <p:nvPr/>
        </p:nvSpPr>
        <p:spPr>
          <a:xfrm>
            <a:off x="7543714" y="3583727"/>
            <a:ext cx="6059329" cy="992505"/>
          </a:xfrm>
          <a:prstGeom prst="rect">
            <a:avLst/>
          </a:prstGeom>
          <a:noFill/>
          <a:ln/>
        </p:spPr>
        <p:txBody>
          <a:bodyPr wrap="square" lIns="0" tIns="0" rIns="0" bIns="0" rtlCol="0" anchor="t"/>
          <a:lstStyle/>
          <a:p>
            <a:pPr marL="0" indent="0" algn="just">
              <a:lnSpc>
                <a:spcPts val="1950"/>
              </a:lnSpc>
              <a:buNone/>
            </a:pPr>
            <a:r>
              <a:rPr lang="en-US" sz="1350" dirty="0">
                <a:solidFill>
                  <a:srgbClr val="384653"/>
                </a:solidFill>
                <a:latin typeface="Montserrat" pitchFamily="34" charset="0"/>
                <a:ea typeface="Montserrat" pitchFamily="34" charset="-122"/>
                <a:cs typeface="Montserrat" pitchFamily="34" charset="-120"/>
              </a:rPr>
              <a:t>No single challenge stands alone. Pollution worsens scarcity; urbanization overwhelms infrastructure; climate change deepens inequality. Addressing SDG 6 requires understanding — and acting on — all of these pressures simultaneously.</a:t>
            </a:r>
            <a:endParaRPr lang="en-US" sz="1350" dirty="0"/>
          </a:p>
        </p:txBody>
      </p:sp>
      <p:sp>
        <p:nvSpPr>
          <p:cNvPr id="7" name="Shape 3"/>
          <p:cNvSpPr/>
          <p:nvPr/>
        </p:nvSpPr>
        <p:spPr>
          <a:xfrm>
            <a:off x="7533323" y="4710113"/>
            <a:ext cx="6059329" cy="1135023"/>
          </a:xfrm>
          <a:prstGeom prst="roundRect">
            <a:avLst>
              <a:gd name="adj" fmla="val 22817"/>
            </a:avLst>
          </a:prstGeom>
          <a:solidFill>
            <a:srgbClr val="FCF2B5"/>
          </a:solidFill>
          <a:ln/>
        </p:spPr>
        <p:txBody>
          <a:bodyPr/>
          <a:lstStyle/>
          <a:p>
            <a:endParaRPr lang="en-IN"/>
          </a:p>
        </p:txBody>
      </p:sp>
      <p:pic>
        <p:nvPicPr>
          <p:cNvPr id="8" name="Image 2" descr="preencoded.png"/>
          <p:cNvPicPr>
            <a:picLocks noChangeAspect="1"/>
          </p:cNvPicPr>
          <p:nvPr/>
        </p:nvPicPr>
        <p:blipFill>
          <a:blip r:embed="rId5"/>
          <a:stretch>
            <a:fillRect/>
          </a:stretch>
        </p:blipFill>
        <p:spPr>
          <a:xfrm>
            <a:off x="7705963" y="4957643"/>
            <a:ext cx="215741" cy="172641"/>
          </a:xfrm>
          <a:prstGeom prst="rect">
            <a:avLst/>
          </a:prstGeom>
        </p:spPr>
      </p:pic>
      <p:sp>
        <p:nvSpPr>
          <p:cNvPr id="9" name="Text 4"/>
          <p:cNvSpPr/>
          <p:nvPr/>
        </p:nvSpPr>
        <p:spPr>
          <a:xfrm>
            <a:off x="8094345" y="4890730"/>
            <a:ext cx="5325666" cy="744379"/>
          </a:xfrm>
          <a:prstGeom prst="rect">
            <a:avLst/>
          </a:prstGeom>
          <a:noFill/>
          <a:ln/>
        </p:spPr>
        <p:txBody>
          <a:bodyPr wrap="square" lIns="0" tIns="0" rIns="0" bIns="0" rtlCol="0" anchor="t"/>
          <a:lstStyle/>
          <a:p>
            <a:pPr marL="0" indent="0" algn="l">
              <a:lnSpc>
                <a:spcPts val="1950"/>
              </a:lnSpc>
              <a:buNone/>
            </a:pPr>
            <a:r>
              <a:rPr lang="en-US" sz="1350" dirty="0">
                <a:solidFill>
                  <a:srgbClr val="000000"/>
                </a:solidFill>
                <a:latin typeface="Montserrat" pitchFamily="34" charset="0"/>
                <a:ea typeface="Montserrat" pitchFamily="34" charset="-122"/>
                <a:cs typeface="Montserrat" pitchFamily="34" charset="-120"/>
              </a:rPr>
              <a:t>Over 2 billion people still lack access to safely managed drinking water. More than 3.6 billion lack safe sanitation services.</a:t>
            </a:r>
            <a:endParaRPr lang="en-US" sz="13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758309" y="5179800"/>
            <a:ext cx="704897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Toilet Presence vs. Usability</a:t>
            </a:r>
            <a:endParaRPr lang="en-US" sz="4450" dirty="0"/>
          </a:p>
        </p:txBody>
      </p:sp>
      <p:sp>
        <p:nvSpPr>
          <p:cNvPr id="4" name="Text 1"/>
          <p:cNvSpPr/>
          <p:nvPr/>
        </p:nvSpPr>
        <p:spPr>
          <a:xfrm>
            <a:off x="758309" y="5997159"/>
            <a:ext cx="7627382" cy="138684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Data from India's SBM achievement list reveals a persistent gap: households may have a toilet on record, but many are incomplete or unusable. </a:t>
            </a:r>
            <a:r>
              <a:rPr lang="en-US" sz="1700" b="1" dirty="0">
                <a:solidFill>
                  <a:srgbClr val="384653"/>
                </a:solidFill>
                <a:latin typeface="Montserrat" pitchFamily="34" charset="0"/>
                <a:ea typeface="Montserrat" pitchFamily="34" charset="-122"/>
                <a:cs typeface="Montserrat" pitchFamily="34" charset="-120"/>
              </a:rPr>
              <a:t>Building toilets is only the first step — ensuring they are functional and maintained is critical to lasting impact.</a:t>
            </a:r>
            <a:endParaRPr lang="en-US" sz="1700" dirty="0"/>
          </a:p>
        </p:txBody>
      </p:sp>
      <p:pic>
        <p:nvPicPr>
          <p:cNvPr id="1028" name="Picture 4">
            <a:extLst>
              <a:ext uri="{FF2B5EF4-FFF2-40B4-BE49-F238E27FC236}">
                <a16:creationId xmlns:a16="http://schemas.microsoft.com/office/drawing/2014/main" id="{313BA0D4-C694-78A7-3AFD-AA3DA160D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9843" y="423734"/>
            <a:ext cx="8189532" cy="455338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8"/>
                                        </p:tgtEl>
                                        <p:attrNameLst>
                                          <p:attrName>style.visibility</p:attrName>
                                        </p:attrNameLst>
                                      </p:cBhvr>
                                      <p:to>
                                        <p:strVal val="visible"/>
                                      </p:to>
                                    </p:set>
                                    <p:animEffect transition="in" filter="fade">
                                      <p:cBhvr>
                                        <p:cTn id="14" dur="1000"/>
                                        <p:tgtEl>
                                          <p:spTgt spid="1028"/>
                                        </p:tgtEl>
                                      </p:cBhvr>
                                    </p:animEffect>
                                    <p:anim calcmode="lin" valueType="num">
                                      <p:cBhvr>
                                        <p:cTn id="15" dur="1000" fill="hold"/>
                                        <p:tgtEl>
                                          <p:spTgt spid="1028"/>
                                        </p:tgtEl>
                                        <p:attrNameLst>
                                          <p:attrName>ppt_x</p:attrName>
                                        </p:attrNameLst>
                                      </p:cBhvr>
                                      <p:tavLst>
                                        <p:tav tm="0">
                                          <p:val>
                                            <p:strVal val="#ppt_x"/>
                                          </p:val>
                                        </p:tav>
                                        <p:tav tm="100000">
                                          <p:val>
                                            <p:strVal val="#ppt_x"/>
                                          </p:val>
                                        </p:tav>
                                      </p:tavLst>
                                    </p:anim>
                                    <p:anim calcmode="lin" valueType="num">
                                      <p:cBhvr>
                                        <p:cTn id="16"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58309" y="1551623"/>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2E3C4E"/>
                </a:solidFill>
                <a:latin typeface="Barlow Bold" pitchFamily="34" charset="0"/>
                <a:ea typeface="Barlow Bold" pitchFamily="34" charset="-122"/>
                <a:cs typeface="Barlow Bold" pitchFamily="34" charset="-120"/>
              </a:rPr>
              <a:t>Leading Organizations</a:t>
            </a:r>
            <a:endParaRPr lang="en-US" sz="2200" dirty="0"/>
          </a:p>
        </p:txBody>
      </p:sp>
      <p:sp>
        <p:nvSpPr>
          <p:cNvPr id="3" name="Text 1"/>
          <p:cNvSpPr/>
          <p:nvPr/>
        </p:nvSpPr>
        <p:spPr>
          <a:xfrm>
            <a:off x="758309" y="1994416"/>
            <a:ext cx="8912543"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NGOs Driving Change on the Ground</a:t>
            </a:r>
            <a:endParaRPr lang="en-US" sz="4450" dirty="0"/>
          </a:p>
        </p:txBody>
      </p:sp>
      <p:pic>
        <p:nvPicPr>
          <p:cNvPr id="4" name="Image 0" descr="preencoded.png"/>
          <p:cNvPicPr>
            <a:picLocks noChangeAspect="1"/>
          </p:cNvPicPr>
          <p:nvPr/>
        </p:nvPicPr>
        <p:blipFill>
          <a:blip r:embed="rId3"/>
          <a:stretch>
            <a:fillRect/>
          </a:stretch>
        </p:blipFill>
        <p:spPr>
          <a:xfrm>
            <a:off x="758309" y="3032046"/>
            <a:ext cx="2430542" cy="1502092"/>
          </a:xfrm>
          <a:prstGeom prst="rect">
            <a:avLst/>
          </a:prstGeom>
        </p:spPr>
      </p:pic>
      <p:sp>
        <p:nvSpPr>
          <p:cNvPr id="5" name="Text 2"/>
          <p:cNvSpPr/>
          <p:nvPr/>
        </p:nvSpPr>
        <p:spPr>
          <a:xfrm>
            <a:off x="758309" y="4804886"/>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WaterAid</a:t>
            </a:r>
            <a:endParaRPr lang="en-US" sz="2200" dirty="0"/>
          </a:p>
        </p:txBody>
      </p:sp>
      <p:sp>
        <p:nvSpPr>
          <p:cNvPr id="6" name="Text 3"/>
          <p:cNvSpPr/>
          <p:nvPr/>
        </p:nvSpPr>
        <p:spPr>
          <a:xfrm>
            <a:off x="758309" y="5291018"/>
            <a:ext cx="4190762" cy="138684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Works in 28 countries to deliver clean water, decent toilets, and good hygiene — reaching the most marginalized communities.</a:t>
            </a:r>
            <a:endParaRPr lang="en-US" sz="1700" dirty="0"/>
          </a:p>
        </p:txBody>
      </p:sp>
      <p:pic>
        <p:nvPicPr>
          <p:cNvPr id="7" name="Image 1" descr="preencoded.png"/>
          <p:cNvPicPr>
            <a:picLocks noChangeAspect="1"/>
          </p:cNvPicPr>
          <p:nvPr/>
        </p:nvPicPr>
        <p:blipFill>
          <a:blip r:embed="rId4"/>
          <a:stretch>
            <a:fillRect/>
          </a:stretch>
        </p:blipFill>
        <p:spPr>
          <a:xfrm>
            <a:off x="5219819" y="3032046"/>
            <a:ext cx="2430542" cy="1502092"/>
          </a:xfrm>
          <a:prstGeom prst="rect">
            <a:avLst/>
          </a:prstGeom>
        </p:spPr>
      </p:pic>
      <p:sp>
        <p:nvSpPr>
          <p:cNvPr id="8" name="Text 4"/>
          <p:cNvSpPr/>
          <p:nvPr/>
        </p:nvSpPr>
        <p:spPr>
          <a:xfrm>
            <a:off x="5219819" y="4804886"/>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Charity: Water</a:t>
            </a:r>
            <a:endParaRPr lang="en-US" sz="2200" dirty="0"/>
          </a:p>
        </p:txBody>
      </p:sp>
      <p:sp>
        <p:nvSpPr>
          <p:cNvPr id="9" name="Text 5"/>
          <p:cNvSpPr/>
          <p:nvPr/>
        </p:nvSpPr>
        <p:spPr>
          <a:xfrm>
            <a:off x="5219819" y="5291018"/>
            <a:ext cx="4190762" cy="138684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Has funded over 100,000 water projects globally, bringing clean drinking water to more than 17 million people in developing nations.</a:t>
            </a:r>
            <a:endParaRPr lang="en-US" sz="1700" dirty="0"/>
          </a:p>
        </p:txBody>
      </p:sp>
      <p:pic>
        <p:nvPicPr>
          <p:cNvPr id="10" name="Image 2" descr="preencoded.png"/>
          <p:cNvPicPr>
            <a:picLocks noChangeAspect="1"/>
          </p:cNvPicPr>
          <p:nvPr/>
        </p:nvPicPr>
        <p:blipFill>
          <a:blip r:embed="rId5"/>
          <a:stretch>
            <a:fillRect/>
          </a:stretch>
        </p:blipFill>
        <p:spPr>
          <a:xfrm>
            <a:off x="9681329" y="3032046"/>
            <a:ext cx="2430542" cy="1502092"/>
          </a:xfrm>
          <a:prstGeom prst="rect">
            <a:avLst/>
          </a:prstGeom>
        </p:spPr>
      </p:pic>
      <p:sp>
        <p:nvSpPr>
          <p:cNvPr id="11" name="Text 6"/>
          <p:cNvSpPr/>
          <p:nvPr/>
        </p:nvSpPr>
        <p:spPr>
          <a:xfrm>
            <a:off x="9681329" y="4804886"/>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Sulabh International</a:t>
            </a:r>
            <a:endParaRPr lang="en-US" sz="2200" dirty="0"/>
          </a:p>
        </p:txBody>
      </p:sp>
      <p:sp>
        <p:nvSpPr>
          <p:cNvPr id="12" name="Text 7"/>
          <p:cNvSpPr/>
          <p:nvPr/>
        </p:nvSpPr>
        <p:spPr>
          <a:xfrm>
            <a:off x="9681329" y="5291018"/>
            <a:ext cx="4190762" cy="138684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Pioneered low-cost sanitation in India, constructing over 1.5 million household toilets and promoting dignity for sanitation workers.</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000"/>
                                        <p:tgtEl>
                                          <p:spTgt spid="11"/>
                                        </p:tgtEl>
                                      </p:cBhvr>
                                    </p:animEffect>
                                    <p:anim calcmode="lin" valueType="num">
                                      <p:cBhvr>
                                        <p:cTn id="54" dur="1000" fill="hold"/>
                                        <p:tgtEl>
                                          <p:spTgt spid="11"/>
                                        </p:tgtEl>
                                        <p:attrNameLst>
                                          <p:attrName>ppt_x</p:attrName>
                                        </p:attrNameLst>
                                      </p:cBhvr>
                                      <p:tavLst>
                                        <p:tav tm="0">
                                          <p:val>
                                            <p:strVal val="#ppt_x"/>
                                          </p:val>
                                        </p:tav>
                                        <p:tav tm="100000">
                                          <p:val>
                                            <p:strVal val="#ppt_x"/>
                                          </p:val>
                                        </p:tav>
                                      </p:tavLst>
                                    </p:anim>
                                    <p:anim calcmode="lin" valueType="num">
                                      <p:cBhvr>
                                        <p:cTn id="55" dur="1000" fill="hold"/>
                                        <p:tgtEl>
                                          <p:spTgt spid="11"/>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anim calcmode="lin" valueType="num">
                                      <p:cBhvr>
                                        <p:cTn id="59" dur="1000" fill="hold"/>
                                        <p:tgtEl>
                                          <p:spTgt spid="12"/>
                                        </p:tgtEl>
                                        <p:attrNameLst>
                                          <p:attrName>ppt_x</p:attrName>
                                        </p:attrNameLst>
                                      </p:cBhvr>
                                      <p:tavLst>
                                        <p:tav tm="0">
                                          <p:val>
                                            <p:strVal val="#ppt_x"/>
                                          </p:val>
                                        </p:tav>
                                        <p:tav tm="100000">
                                          <p:val>
                                            <p:strVal val="#ppt_x"/>
                                          </p:val>
                                        </p:tav>
                                      </p:tavLst>
                                    </p:anim>
                                    <p:anim calcmode="lin" valueType="num">
                                      <p:cBhvr>
                                        <p:cTn id="6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8" grpId="0" animBg="1"/>
      <p:bldP spid="9"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8309" y="1029057"/>
            <a:ext cx="5989796"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NGO Activities in Action</a:t>
            </a:r>
            <a:endParaRPr lang="en-US" sz="4450" dirty="0"/>
          </a:p>
        </p:txBody>
      </p:sp>
      <p:pic>
        <p:nvPicPr>
          <p:cNvPr id="3" name="Image 0" descr="preencoded.png"/>
          <p:cNvPicPr>
            <a:picLocks noChangeAspect="1"/>
          </p:cNvPicPr>
          <p:nvPr/>
        </p:nvPicPr>
        <p:blipFill>
          <a:blip r:embed="rId3"/>
          <a:stretch>
            <a:fillRect/>
          </a:stretch>
        </p:blipFill>
        <p:spPr>
          <a:xfrm>
            <a:off x="758309" y="3439358"/>
            <a:ext cx="4246126" cy="2388394"/>
          </a:xfrm>
          <a:prstGeom prst="rect">
            <a:avLst/>
          </a:prstGeom>
        </p:spPr>
      </p:pic>
      <p:sp>
        <p:nvSpPr>
          <p:cNvPr id="4" name="Text 1"/>
          <p:cNvSpPr/>
          <p:nvPr/>
        </p:nvSpPr>
        <p:spPr>
          <a:xfrm>
            <a:off x="5540693" y="2283262"/>
            <a:ext cx="4278392" cy="356235"/>
          </a:xfrm>
          <a:prstGeom prst="rect">
            <a:avLst/>
          </a:prstGeom>
          <a:noFill/>
          <a:ln/>
        </p:spPr>
        <p:txBody>
          <a:bodyPr wrap="none" lIns="0" tIns="0" rIns="0" bIns="0" rtlCol="0" anchor="t"/>
          <a:lstStyle/>
          <a:p>
            <a:pPr marL="0" indent="0" algn="l">
              <a:lnSpc>
                <a:spcPts val="2800"/>
              </a:lnSpc>
              <a:buNone/>
            </a:pPr>
            <a:r>
              <a:rPr lang="en-US" sz="2200" b="1" dirty="0">
                <a:solidFill>
                  <a:srgbClr val="2E3C4E"/>
                </a:solidFill>
                <a:latin typeface="Barlow Bold" pitchFamily="34" charset="0"/>
                <a:ea typeface="Barlow Bold" pitchFamily="34" charset="-122"/>
                <a:cs typeface="Barlow Bold" pitchFamily="34" charset="-120"/>
              </a:rPr>
              <a:t>From Infrastructure to Awareness</a:t>
            </a:r>
            <a:endParaRPr lang="en-US" sz="22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21893" y="2893933"/>
            <a:ext cx="324922" cy="324922"/>
          </a:xfrm>
          <a:prstGeom prst="rect">
            <a:avLst/>
          </a:prstGeom>
        </p:spPr>
      </p:pic>
      <p:sp>
        <p:nvSpPr>
          <p:cNvPr id="6" name="Text 2"/>
          <p:cNvSpPr/>
          <p:nvPr/>
        </p:nvSpPr>
        <p:spPr>
          <a:xfrm>
            <a:off x="6244709" y="2883218"/>
            <a:ext cx="7634883" cy="693420"/>
          </a:xfrm>
          <a:prstGeom prst="rect">
            <a:avLst/>
          </a:prstGeom>
          <a:noFill/>
          <a:ln/>
        </p:spPr>
        <p:txBody>
          <a:bodyPr wrap="square" lIns="0" tIns="0" rIns="0" bIns="0" rtlCol="0" anchor="t"/>
          <a:lstStyle/>
          <a:p>
            <a:pPr marL="0" indent="0" algn="l">
              <a:lnSpc>
                <a:spcPts val="2700"/>
              </a:lnSpc>
              <a:buNone/>
            </a:pPr>
            <a:r>
              <a:rPr lang="en-US" sz="1700" b="1" dirty="0">
                <a:solidFill>
                  <a:srgbClr val="384653"/>
                </a:solidFill>
                <a:latin typeface="Montserrat" pitchFamily="34" charset="0"/>
                <a:ea typeface="Montserrat" pitchFamily="34" charset="-122"/>
                <a:cs typeface="Montserrat" pitchFamily="34" charset="-120"/>
              </a:rPr>
              <a:t>Water filtration systems</a:t>
            </a:r>
            <a:r>
              <a:rPr lang="en-US" sz="1700" dirty="0">
                <a:solidFill>
                  <a:srgbClr val="384653"/>
                </a:solidFill>
                <a:latin typeface="Montserrat" pitchFamily="34" charset="0"/>
                <a:ea typeface="Montserrat" pitchFamily="34" charset="-122"/>
                <a:cs typeface="Montserrat" pitchFamily="34" charset="-120"/>
              </a:rPr>
              <a:t> installed in homes, schools, and community centers</a:t>
            </a:r>
            <a:endParaRPr lang="en-US" sz="17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21893" y="4020622"/>
            <a:ext cx="324922" cy="324922"/>
          </a:xfrm>
          <a:prstGeom prst="rect">
            <a:avLst/>
          </a:prstGeom>
        </p:spPr>
      </p:pic>
      <p:sp>
        <p:nvSpPr>
          <p:cNvPr id="8" name="Text 3"/>
          <p:cNvSpPr/>
          <p:nvPr/>
        </p:nvSpPr>
        <p:spPr>
          <a:xfrm>
            <a:off x="6244709" y="4009906"/>
            <a:ext cx="7634883" cy="693420"/>
          </a:xfrm>
          <a:prstGeom prst="rect">
            <a:avLst/>
          </a:prstGeom>
          <a:noFill/>
          <a:ln/>
        </p:spPr>
        <p:txBody>
          <a:bodyPr wrap="square" lIns="0" tIns="0" rIns="0" bIns="0" rtlCol="0" anchor="t"/>
          <a:lstStyle/>
          <a:p>
            <a:pPr marL="0" indent="0" algn="l">
              <a:lnSpc>
                <a:spcPts val="2700"/>
              </a:lnSpc>
              <a:buNone/>
            </a:pPr>
            <a:r>
              <a:rPr lang="en-US" sz="1700" b="1" dirty="0">
                <a:solidFill>
                  <a:srgbClr val="384653"/>
                </a:solidFill>
                <a:latin typeface="Montserrat" pitchFamily="34" charset="0"/>
                <a:ea typeface="Montserrat" pitchFamily="34" charset="-122"/>
                <a:cs typeface="Montserrat" pitchFamily="34" charset="-120"/>
              </a:rPr>
              <a:t>Toilet construction</a:t>
            </a:r>
            <a:r>
              <a:rPr lang="en-US" sz="1700" dirty="0">
                <a:solidFill>
                  <a:srgbClr val="384653"/>
                </a:solidFill>
                <a:latin typeface="Montserrat" pitchFamily="34" charset="0"/>
                <a:ea typeface="Montserrat" pitchFamily="34" charset="-122"/>
                <a:cs typeface="Montserrat" pitchFamily="34" charset="-120"/>
              </a:rPr>
              <a:t> in underserved villages, prioritizing schools and women's access</a:t>
            </a:r>
            <a:endParaRPr lang="en-US" sz="170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21893" y="5147310"/>
            <a:ext cx="324922" cy="324922"/>
          </a:xfrm>
          <a:prstGeom prst="rect">
            <a:avLst/>
          </a:prstGeom>
        </p:spPr>
      </p:pic>
      <p:sp>
        <p:nvSpPr>
          <p:cNvPr id="10" name="Text 4"/>
          <p:cNvSpPr/>
          <p:nvPr/>
        </p:nvSpPr>
        <p:spPr>
          <a:xfrm>
            <a:off x="6244709" y="5136594"/>
            <a:ext cx="7634883" cy="693420"/>
          </a:xfrm>
          <a:prstGeom prst="rect">
            <a:avLst/>
          </a:prstGeom>
          <a:noFill/>
          <a:ln/>
        </p:spPr>
        <p:txBody>
          <a:bodyPr wrap="square" lIns="0" tIns="0" rIns="0" bIns="0" rtlCol="0" anchor="t"/>
          <a:lstStyle/>
          <a:p>
            <a:pPr marL="0" indent="0" algn="l">
              <a:lnSpc>
                <a:spcPts val="2700"/>
              </a:lnSpc>
              <a:buNone/>
            </a:pPr>
            <a:r>
              <a:rPr lang="en-US" sz="1700" b="1" dirty="0">
                <a:solidFill>
                  <a:srgbClr val="384653"/>
                </a:solidFill>
                <a:latin typeface="Montserrat" pitchFamily="34" charset="0"/>
                <a:ea typeface="Montserrat" pitchFamily="34" charset="-122"/>
                <a:cs typeface="Montserrat" pitchFamily="34" charset="-120"/>
              </a:rPr>
              <a:t>Hygiene campaigns</a:t>
            </a:r>
            <a:r>
              <a:rPr lang="en-US" sz="1700" dirty="0">
                <a:solidFill>
                  <a:srgbClr val="384653"/>
                </a:solidFill>
                <a:latin typeface="Montserrat" pitchFamily="34" charset="0"/>
                <a:ea typeface="Montserrat" pitchFamily="34" charset="-122"/>
                <a:cs typeface="Montserrat" pitchFamily="34" charset="-120"/>
              </a:rPr>
              <a:t> on handwashing, menstrual health, and safe food handling</a:t>
            </a:r>
            <a:endParaRPr lang="en-US" sz="1700" dirty="0"/>
          </a:p>
        </p:txBody>
      </p:sp>
      <p:pic>
        <p:nvPicPr>
          <p:cNvPr id="11"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21893" y="6273998"/>
            <a:ext cx="324922" cy="324922"/>
          </a:xfrm>
          <a:prstGeom prst="rect">
            <a:avLst/>
          </a:prstGeom>
        </p:spPr>
      </p:pic>
      <p:sp>
        <p:nvSpPr>
          <p:cNvPr id="12" name="Text 5"/>
          <p:cNvSpPr/>
          <p:nvPr/>
        </p:nvSpPr>
        <p:spPr>
          <a:xfrm>
            <a:off x="6244709" y="6263283"/>
            <a:ext cx="7634883" cy="693420"/>
          </a:xfrm>
          <a:prstGeom prst="rect">
            <a:avLst/>
          </a:prstGeom>
          <a:noFill/>
          <a:ln/>
        </p:spPr>
        <p:txBody>
          <a:bodyPr wrap="square" lIns="0" tIns="0" rIns="0" bIns="0" rtlCol="0" anchor="t"/>
          <a:lstStyle/>
          <a:p>
            <a:pPr marL="0" indent="0" algn="l">
              <a:lnSpc>
                <a:spcPts val="2700"/>
              </a:lnSpc>
              <a:buNone/>
            </a:pPr>
            <a:r>
              <a:rPr lang="en-US" sz="1700" b="1" dirty="0">
                <a:solidFill>
                  <a:srgbClr val="384653"/>
                </a:solidFill>
                <a:latin typeface="Montserrat" pitchFamily="34" charset="0"/>
                <a:ea typeface="Montserrat" pitchFamily="34" charset="-122"/>
                <a:cs typeface="Montserrat" pitchFamily="34" charset="-120"/>
              </a:rPr>
              <a:t>Community training</a:t>
            </a:r>
            <a:r>
              <a:rPr lang="en-US" sz="1700" dirty="0">
                <a:solidFill>
                  <a:srgbClr val="384653"/>
                </a:solidFill>
                <a:latin typeface="Montserrat" pitchFamily="34" charset="0"/>
                <a:ea typeface="Montserrat" pitchFamily="34" charset="-122"/>
                <a:cs typeface="Montserrat" pitchFamily="34" charset="-120"/>
              </a:rPr>
              <a:t> on wastewater management and rainwater harvesting</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1000"/>
                                        <p:tgtEl>
                                          <p:spTgt spid="11"/>
                                        </p:tgtEl>
                                      </p:cBhvr>
                                    </p:animEffect>
                                    <p:anim calcmode="lin" valueType="num">
                                      <p:cBhvr>
                                        <p:cTn id="61" dur="1000" fill="hold"/>
                                        <p:tgtEl>
                                          <p:spTgt spid="11"/>
                                        </p:tgtEl>
                                        <p:attrNameLst>
                                          <p:attrName>ppt_x</p:attrName>
                                        </p:attrNameLst>
                                      </p:cBhvr>
                                      <p:tavLst>
                                        <p:tav tm="0">
                                          <p:val>
                                            <p:strVal val="#ppt_x"/>
                                          </p:val>
                                        </p:tav>
                                        <p:tav tm="100000">
                                          <p:val>
                                            <p:strVal val="#ppt_x"/>
                                          </p:val>
                                        </p:tav>
                                      </p:tavLst>
                                    </p:anim>
                                    <p:anim calcmode="lin" valueType="num">
                                      <p:cBhvr>
                                        <p:cTn id="6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58309" y="1245870"/>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2E3C4E"/>
                </a:solidFill>
                <a:latin typeface="Barlow Bold" pitchFamily="34" charset="0"/>
                <a:ea typeface="Barlow Bold" pitchFamily="34" charset="-122"/>
                <a:cs typeface="Barlow Bold" pitchFamily="34" charset="-120"/>
              </a:rPr>
              <a:t>Champions of Change</a:t>
            </a:r>
            <a:endParaRPr lang="en-US" sz="2200" dirty="0"/>
          </a:p>
        </p:txBody>
      </p:sp>
      <p:sp>
        <p:nvSpPr>
          <p:cNvPr id="3" name="Text 1"/>
          <p:cNvSpPr/>
          <p:nvPr/>
        </p:nvSpPr>
        <p:spPr>
          <a:xfrm>
            <a:off x="758309" y="1688663"/>
            <a:ext cx="7975402" cy="712708"/>
          </a:xfrm>
          <a:prstGeom prst="rect">
            <a:avLst/>
          </a:prstGeom>
          <a:noFill/>
          <a:ln/>
        </p:spPr>
        <p:txBody>
          <a:bodyPr wrap="none" lIns="0" tIns="0" rIns="0" bIns="0" rtlCol="0" anchor="t"/>
          <a:lstStyle/>
          <a:p>
            <a:pPr marL="0" indent="0" algn="l">
              <a:lnSpc>
                <a:spcPts val="5600"/>
              </a:lnSpc>
              <a:buNone/>
            </a:pPr>
            <a:r>
              <a:rPr lang="en-US" sz="4450" b="1" dirty="0">
                <a:solidFill>
                  <a:srgbClr val="2E3C4E"/>
                </a:solidFill>
                <a:latin typeface="Barlow Bold" pitchFamily="34" charset="0"/>
                <a:ea typeface="Barlow Bold" pitchFamily="34" charset="-122"/>
                <a:cs typeface="Barlow Bold" pitchFamily="34" charset="-120"/>
              </a:rPr>
              <a:t>Leaders Who Made a Difference</a:t>
            </a:r>
            <a:endParaRPr lang="en-US" sz="4450" dirty="0"/>
          </a:p>
        </p:txBody>
      </p:sp>
      <p:sp>
        <p:nvSpPr>
          <p:cNvPr id="4" name="Shape 2"/>
          <p:cNvSpPr/>
          <p:nvPr/>
        </p:nvSpPr>
        <p:spPr>
          <a:xfrm>
            <a:off x="758309" y="2726293"/>
            <a:ext cx="6448544" cy="2020372"/>
          </a:xfrm>
          <a:prstGeom prst="roundRect">
            <a:avLst>
              <a:gd name="adj" fmla="val 7241"/>
            </a:avLst>
          </a:prstGeom>
          <a:solidFill>
            <a:srgbClr val="FFFFFF"/>
          </a:solidFill>
          <a:ln w="30480">
            <a:solidFill>
              <a:srgbClr val="BACFDD"/>
            </a:solidFill>
            <a:prstDash val="solid"/>
          </a:ln>
        </p:spPr>
        <p:txBody>
          <a:bodyPr/>
          <a:lstStyle/>
          <a:p>
            <a:endParaRPr lang="en-IN"/>
          </a:p>
        </p:txBody>
      </p:sp>
      <p:pic>
        <p:nvPicPr>
          <p:cNvPr id="5" name="Image 0" descr="preencoded.png"/>
          <p:cNvPicPr>
            <a:picLocks noChangeAspect="1"/>
          </p:cNvPicPr>
          <p:nvPr/>
        </p:nvPicPr>
        <p:blipFill>
          <a:blip r:embed="rId3"/>
          <a:stretch>
            <a:fillRect/>
          </a:stretch>
        </p:blipFill>
        <p:spPr>
          <a:xfrm>
            <a:off x="727829" y="2726293"/>
            <a:ext cx="121920" cy="2020372"/>
          </a:xfrm>
          <a:prstGeom prst="rect">
            <a:avLst/>
          </a:prstGeom>
        </p:spPr>
      </p:pic>
      <p:sp>
        <p:nvSpPr>
          <p:cNvPr id="6" name="Text 3"/>
          <p:cNvSpPr/>
          <p:nvPr/>
        </p:nvSpPr>
        <p:spPr>
          <a:xfrm>
            <a:off x="1096804" y="2973348"/>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Bindeshwar Pathak</a:t>
            </a:r>
            <a:endParaRPr lang="en-US" sz="2200" dirty="0"/>
          </a:p>
        </p:txBody>
      </p:sp>
      <p:sp>
        <p:nvSpPr>
          <p:cNvPr id="7" name="Text 4"/>
          <p:cNvSpPr/>
          <p:nvPr/>
        </p:nvSpPr>
        <p:spPr>
          <a:xfrm>
            <a:off x="1096804" y="3459480"/>
            <a:ext cx="5862995" cy="104013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Founded Sulabh International and developed affordable two-pit pour-flush toilets, transforming sanitation access for millions across India.</a:t>
            </a:r>
            <a:endParaRPr lang="en-US" sz="1700" dirty="0"/>
          </a:p>
        </p:txBody>
      </p:sp>
      <p:sp>
        <p:nvSpPr>
          <p:cNvPr id="8" name="Shape 5"/>
          <p:cNvSpPr/>
          <p:nvPr/>
        </p:nvSpPr>
        <p:spPr>
          <a:xfrm>
            <a:off x="7423428" y="2726293"/>
            <a:ext cx="6448663" cy="2020372"/>
          </a:xfrm>
          <a:prstGeom prst="roundRect">
            <a:avLst>
              <a:gd name="adj" fmla="val 7241"/>
            </a:avLst>
          </a:prstGeom>
          <a:solidFill>
            <a:srgbClr val="FFFFFF"/>
          </a:solidFill>
          <a:ln w="30480">
            <a:solidFill>
              <a:srgbClr val="BACFDD"/>
            </a:solidFill>
            <a:prstDash val="solid"/>
          </a:ln>
        </p:spPr>
        <p:txBody>
          <a:bodyPr/>
          <a:lstStyle/>
          <a:p>
            <a:endParaRPr lang="en-IN"/>
          </a:p>
        </p:txBody>
      </p:sp>
      <p:pic>
        <p:nvPicPr>
          <p:cNvPr id="9" name="Image 1" descr="preencoded.png"/>
          <p:cNvPicPr>
            <a:picLocks noChangeAspect="1"/>
          </p:cNvPicPr>
          <p:nvPr/>
        </p:nvPicPr>
        <p:blipFill>
          <a:blip r:embed="rId3"/>
          <a:stretch>
            <a:fillRect/>
          </a:stretch>
        </p:blipFill>
        <p:spPr>
          <a:xfrm>
            <a:off x="7392948" y="2726293"/>
            <a:ext cx="121920" cy="2020372"/>
          </a:xfrm>
          <a:prstGeom prst="rect">
            <a:avLst/>
          </a:prstGeom>
        </p:spPr>
      </p:pic>
      <p:sp>
        <p:nvSpPr>
          <p:cNvPr id="10" name="Text 6"/>
          <p:cNvSpPr/>
          <p:nvPr/>
        </p:nvSpPr>
        <p:spPr>
          <a:xfrm>
            <a:off x="7761923" y="2973348"/>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Scott Harrison</a:t>
            </a:r>
            <a:endParaRPr lang="en-US" sz="2200" dirty="0"/>
          </a:p>
        </p:txBody>
      </p:sp>
      <p:sp>
        <p:nvSpPr>
          <p:cNvPr id="11" name="Text 7"/>
          <p:cNvSpPr/>
          <p:nvPr/>
        </p:nvSpPr>
        <p:spPr>
          <a:xfrm>
            <a:off x="7761923" y="3459480"/>
            <a:ext cx="5863114" cy="104013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Founded Charity: Water, pioneering transparent fundraising models that have funded clean water projects in 29 countries.</a:t>
            </a:r>
            <a:endParaRPr lang="en-US" sz="1700" dirty="0"/>
          </a:p>
        </p:txBody>
      </p:sp>
      <p:sp>
        <p:nvSpPr>
          <p:cNvPr id="12" name="Shape 8"/>
          <p:cNvSpPr/>
          <p:nvPr/>
        </p:nvSpPr>
        <p:spPr>
          <a:xfrm>
            <a:off x="758309" y="4963239"/>
            <a:ext cx="6448544" cy="2020372"/>
          </a:xfrm>
          <a:prstGeom prst="roundRect">
            <a:avLst>
              <a:gd name="adj" fmla="val 7241"/>
            </a:avLst>
          </a:prstGeom>
          <a:solidFill>
            <a:srgbClr val="FFFFFF"/>
          </a:solidFill>
          <a:ln w="30480">
            <a:solidFill>
              <a:srgbClr val="BACFDD"/>
            </a:solidFill>
            <a:prstDash val="solid"/>
          </a:ln>
        </p:spPr>
        <p:txBody>
          <a:bodyPr/>
          <a:lstStyle/>
          <a:p>
            <a:endParaRPr lang="en-IN"/>
          </a:p>
        </p:txBody>
      </p:sp>
      <p:pic>
        <p:nvPicPr>
          <p:cNvPr id="13" name="Image 2" descr="preencoded.png"/>
          <p:cNvPicPr>
            <a:picLocks noChangeAspect="1"/>
          </p:cNvPicPr>
          <p:nvPr/>
        </p:nvPicPr>
        <p:blipFill>
          <a:blip r:embed="rId3"/>
          <a:stretch>
            <a:fillRect/>
          </a:stretch>
        </p:blipFill>
        <p:spPr>
          <a:xfrm>
            <a:off x="727829" y="4963239"/>
            <a:ext cx="121920" cy="2020372"/>
          </a:xfrm>
          <a:prstGeom prst="rect">
            <a:avLst/>
          </a:prstGeom>
        </p:spPr>
      </p:pic>
      <p:sp>
        <p:nvSpPr>
          <p:cNvPr id="14" name="Text 9"/>
          <p:cNvSpPr/>
          <p:nvPr/>
        </p:nvSpPr>
        <p:spPr>
          <a:xfrm>
            <a:off x="1096804" y="521029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Bill Gates</a:t>
            </a:r>
            <a:endParaRPr lang="en-US" sz="2200" dirty="0"/>
          </a:p>
        </p:txBody>
      </p:sp>
      <p:sp>
        <p:nvSpPr>
          <p:cNvPr id="15" name="Text 10"/>
          <p:cNvSpPr/>
          <p:nvPr/>
        </p:nvSpPr>
        <p:spPr>
          <a:xfrm>
            <a:off x="1096804" y="5696426"/>
            <a:ext cx="5862995" cy="104013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Through the Gates Foundation, invested hundreds of millions in reinventing the toilet and financing sanitation innovations for the developing world.</a:t>
            </a:r>
            <a:endParaRPr lang="en-US" sz="1700" dirty="0"/>
          </a:p>
        </p:txBody>
      </p:sp>
      <p:sp>
        <p:nvSpPr>
          <p:cNvPr id="16" name="Shape 11"/>
          <p:cNvSpPr/>
          <p:nvPr/>
        </p:nvSpPr>
        <p:spPr>
          <a:xfrm>
            <a:off x="7423428" y="4963239"/>
            <a:ext cx="6448663" cy="2020372"/>
          </a:xfrm>
          <a:prstGeom prst="roundRect">
            <a:avLst>
              <a:gd name="adj" fmla="val 7241"/>
            </a:avLst>
          </a:prstGeom>
          <a:solidFill>
            <a:srgbClr val="FFFFFF"/>
          </a:solidFill>
          <a:ln w="30480">
            <a:solidFill>
              <a:srgbClr val="BACFDD"/>
            </a:solidFill>
            <a:prstDash val="solid"/>
          </a:ln>
        </p:spPr>
        <p:txBody>
          <a:bodyPr/>
          <a:lstStyle/>
          <a:p>
            <a:endParaRPr lang="en-IN"/>
          </a:p>
        </p:txBody>
      </p:sp>
      <p:pic>
        <p:nvPicPr>
          <p:cNvPr id="17" name="Image 3" descr="preencoded.png"/>
          <p:cNvPicPr>
            <a:picLocks noChangeAspect="1"/>
          </p:cNvPicPr>
          <p:nvPr/>
        </p:nvPicPr>
        <p:blipFill>
          <a:blip r:embed="rId3"/>
          <a:stretch>
            <a:fillRect/>
          </a:stretch>
        </p:blipFill>
        <p:spPr>
          <a:xfrm>
            <a:off x="7392948" y="4963239"/>
            <a:ext cx="121920" cy="2020372"/>
          </a:xfrm>
          <a:prstGeom prst="rect">
            <a:avLst/>
          </a:prstGeom>
        </p:spPr>
      </p:pic>
      <p:sp>
        <p:nvSpPr>
          <p:cNvPr id="18" name="Text 12"/>
          <p:cNvSpPr/>
          <p:nvPr/>
        </p:nvSpPr>
        <p:spPr>
          <a:xfrm>
            <a:off x="7761923" y="521029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84653"/>
                </a:solidFill>
                <a:latin typeface="Barlow Bold" pitchFamily="34" charset="0"/>
                <a:ea typeface="Barlow Bold" pitchFamily="34" charset="-122"/>
                <a:cs typeface="Barlow Bold" pitchFamily="34" charset="-120"/>
              </a:rPr>
              <a:t>Akshay Kumar</a:t>
            </a:r>
            <a:endParaRPr lang="en-US" sz="2200" dirty="0"/>
          </a:p>
        </p:txBody>
      </p:sp>
      <p:sp>
        <p:nvSpPr>
          <p:cNvPr id="19" name="Text 13"/>
          <p:cNvSpPr/>
          <p:nvPr/>
        </p:nvSpPr>
        <p:spPr>
          <a:xfrm>
            <a:off x="7761923" y="5696426"/>
            <a:ext cx="5863114" cy="104013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Used his platform and the film </a:t>
            </a:r>
            <a:r>
              <a:rPr lang="en-US" sz="1700" i="1" dirty="0">
                <a:solidFill>
                  <a:srgbClr val="384653"/>
                </a:solidFill>
                <a:latin typeface="Montserrat" pitchFamily="34" charset="0"/>
                <a:ea typeface="Montserrat" pitchFamily="34" charset="-122"/>
                <a:cs typeface="Montserrat" pitchFamily="34" charset="-120"/>
              </a:rPr>
              <a:t>Toilet: Ek Prem Katha</a:t>
            </a:r>
            <a:r>
              <a:rPr lang="en-US" sz="1700" dirty="0">
                <a:solidFill>
                  <a:srgbClr val="384653"/>
                </a:solidFill>
                <a:latin typeface="Montserrat" pitchFamily="34" charset="0"/>
                <a:ea typeface="Montserrat" pitchFamily="34" charset="-122"/>
                <a:cs typeface="Montserrat" pitchFamily="34" charset="-120"/>
              </a:rPr>
              <a:t> to spark a national conversation in India about sanitation dignity and open defecation.</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000"/>
                                        <p:tgtEl>
                                          <p:spTgt spid="14"/>
                                        </p:tgtEl>
                                      </p:cBhvr>
                                    </p:animEffect>
                                    <p:anim calcmode="lin" valueType="num">
                                      <p:cBhvr>
                                        <p:cTn id="62" dur="1000" fill="hold"/>
                                        <p:tgtEl>
                                          <p:spTgt spid="14"/>
                                        </p:tgtEl>
                                        <p:attrNameLst>
                                          <p:attrName>ppt_x</p:attrName>
                                        </p:attrNameLst>
                                      </p:cBhvr>
                                      <p:tavLst>
                                        <p:tav tm="0">
                                          <p:val>
                                            <p:strVal val="#ppt_x"/>
                                          </p:val>
                                        </p:tav>
                                        <p:tav tm="100000">
                                          <p:val>
                                            <p:strVal val="#ppt_x"/>
                                          </p:val>
                                        </p:tav>
                                      </p:tavLst>
                                    </p:anim>
                                    <p:anim calcmode="lin" valueType="num">
                                      <p:cBhvr>
                                        <p:cTn id="63" dur="1000" fill="hold"/>
                                        <p:tgtEl>
                                          <p:spTgt spid="14"/>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anim calcmode="lin" valueType="num">
                                      <p:cBhvr>
                                        <p:cTn id="67" dur="1000" fill="hold"/>
                                        <p:tgtEl>
                                          <p:spTgt spid="15"/>
                                        </p:tgtEl>
                                        <p:attrNameLst>
                                          <p:attrName>ppt_x</p:attrName>
                                        </p:attrNameLst>
                                      </p:cBhvr>
                                      <p:tavLst>
                                        <p:tav tm="0">
                                          <p:val>
                                            <p:strVal val="#ppt_x"/>
                                          </p:val>
                                        </p:tav>
                                        <p:tav tm="100000">
                                          <p:val>
                                            <p:strVal val="#ppt_x"/>
                                          </p:val>
                                        </p:tav>
                                      </p:tavLst>
                                    </p:anim>
                                    <p:anim calcmode="lin" valueType="num">
                                      <p:cBhvr>
                                        <p:cTn id="6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1000"/>
                                        <p:tgtEl>
                                          <p:spTgt spid="17"/>
                                        </p:tgtEl>
                                      </p:cBhvr>
                                    </p:animEffect>
                                    <p:anim calcmode="lin" valueType="num">
                                      <p:cBhvr>
                                        <p:cTn id="74" dur="1000" fill="hold"/>
                                        <p:tgtEl>
                                          <p:spTgt spid="17"/>
                                        </p:tgtEl>
                                        <p:attrNameLst>
                                          <p:attrName>ppt_x</p:attrName>
                                        </p:attrNameLst>
                                      </p:cBhvr>
                                      <p:tavLst>
                                        <p:tav tm="0">
                                          <p:val>
                                            <p:strVal val="#ppt_x"/>
                                          </p:val>
                                        </p:tav>
                                        <p:tav tm="100000">
                                          <p:val>
                                            <p:strVal val="#ppt_x"/>
                                          </p:val>
                                        </p:tav>
                                      </p:tavLst>
                                    </p:anim>
                                    <p:anim calcmode="lin" valueType="num">
                                      <p:cBhvr>
                                        <p:cTn id="75" dur="1000" fill="hold"/>
                                        <p:tgtEl>
                                          <p:spTgt spid="17"/>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1000"/>
                                        <p:tgtEl>
                                          <p:spTgt spid="16"/>
                                        </p:tgtEl>
                                      </p:cBhvr>
                                    </p:animEffect>
                                    <p:anim calcmode="lin" valueType="num">
                                      <p:cBhvr>
                                        <p:cTn id="79" dur="1000" fill="hold"/>
                                        <p:tgtEl>
                                          <p:spTgt spid="16"/>
                                        </p:tgtEl>
                                        <p:attrNameLst>
                                          <p:attrName>ppt_x</p:attrName>
                                        </p:attrNameLst>
                                      </p:cBhvr>
                                      <p:tavLst>
                                        <p:tav tm="0">
                                          <p:val>
                                            <p:strVal val="#ppt_x"/>
                                          </p:val>
                                        </p:tav>
                                        <p:tav tm="100000">
                                          <p:val>
                                            <p:strVal val="#ppt_x"/>
                                          </p:val>
                                        </p:tav>
                                      </p:tavLst>
                                    </p:anim>
                                    <p:anim calcmode="lin" valueType="num">
                                      <p:cBhvr>
                                        <p:cTn id="80" dur="1000" fill="hold"/>
                                        <p:tgtEl>
                                          <p:spTgt spid="16"/>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000"/>
                                        <p:tgtEl>
                                          <p:spTgt spid="18"/>
                                        </p:tgtEl>
                                      </p:cBhvr>
                                    </p:animEffect>
                                    <p:anim calcmode="lin" valueType="num">
                                      <p:cBhvr>
                                        <p:cTn id="84" dur="1000" fill="hold"/>
                                        <p:tgtEl>
                                          <p:spTgt spid="18"/>
                                        </p:tgtEl>
                                        <p:attrNameLst>
                                          <p:attrName>ppt_x</p:attrName>
                                        </p:attrNameLst>
                                      </p:cBhvr>
                                      <p:tavLst>
                                        <p:tav tm="0">
                                          <p:val>
                                            <p:strVal val="#ppt_x"/>
                                          </p:val>
                                        </p:tav>
                                        <p:tav tm="100000">
                                          <p:val>
                                            <p:strVal val="#ppt_x"/>
                                          </p:val>
                                        </p:tav>
                                      </p:tavLst>
                                    </p:anim>
                                    <p:anim calcmode="lin" valueType="num">
                                      <p:cBhvr>
                                        <p:cTn id="85" dur="1000" fill="hold"/>
                                        <p:tgtEl>
                                          <p:spTgt spid="18"/>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000"/>
                                        <p:tgtEl>
                                          <p:spTgt spid="19"/>
                                        </p:tgtEl>
                                      </p:cBhvr>
                                    </p:animEffect>
                                    <p:anim calcmode="lin" valueType="num">
                                      <p:cBhvr>
                                        <p:cTn id="89" dur="1000" fill="hold"/>
                                        <p:tgtEl>
                                          <p:spTgt spid="19"/>
                                        </p:tgtEl>
                                        <p:attrNameLst>
                                          <p:attrName>ppt_x</p:attrName>
                                        </p:attrNameLst>
                                      </p:cBhvr>
                                      <p:tavLst>
                                        <p:tav tm="0">
                                          <p:val>
                                            <p:strVal val="#ppt_x"/>
                                          </p:val>
                                        </p:tav>
                                        <p:tav tm="100000">
                                          <p:val>
                                            <p:strVal val="#ppt_x"/>
                                          </p:val>
                                        </p:tav>
                                      </p:tavLst>
                                    </p:anim>
                                    <p:anim calcmode="lin" valueType="num">
                                      <p:cBhvr>
                                        <p:cTn id="9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6581890" y="697230"/>
            <a:ext cx="6952298" cy="634722"/>
          </a:xfrm>
          <a:prstGeom prst="rect">
            <a:avLst/>
          </a:prstGeom>
          <a:noFill/>
          <a:ln/>
        </p:spPr>
        <p:txBody>
          <a:bodyPr wrap="none" lIns="0" tIns="0" rIns="0" bIns="0" rtlCol="0" anchor="t"/>
          <a:lstStyle/>
          <a:p>
            <a:pPr marL="0" indent="0" algn="l">
              <a:lnSpc>
                <a:spcPts val="4950"/>
              </a:lnSpc>
              <a:buNone/>
            </a:pPr>
            <a:r>
              <a:rPr lang="en-US" sz="3950" b="1" dirty="0">
                <a:solidFill>
                  <a:srgbClr val="2E3C4E"/>
                </a:solidFill>
                <a:latin typeface="Barlow Bold" pitchFamily="34" charset="0"/>
                <a:ea typeface="Barlow Bold" pitchFamily="34" charset="-122"/>
                <a:cs typeface="Barlow Bold" pitchFamily="34" charset="-120"/>
              </a:rPr>
              <a:t>How We Achieve SDG 6 by 2030</a:t>
            </a:r>
            <a:endParaRPr lang="en-US" sz="3950" dirty="0"/>
          </a:p>
        </p:txBody>
      </p:sp>
      <p:pic>
        <p:nvPicPr>
          <p:cNvPr id="4" name="Image 1" descr="preencoded.png"/>
          <p:cNvPicPr>
            <a:picLocks noChangeAspect="1"/>
          </p:cNvPicPr>
          <p:nvPr/>
        </p:nvPicPr>
        <p:blipFill>
          <a:blip r:embed="rId3"/>
          <a:stretch>
            <a:fillRect/>
          </a:stretch>
        </p:blipFill>
        <p:spPr>
          <a:xfrm>
            <a:off x="6161723" y="1547256"/>
            <a:ext cx="7793355" cy="4873943"/>
          </a:xfrm>
          <a:prstGeom prst="rect">
            <a:avLst/>
          </a:prstGeom>
        </p:spPr>
      </p:pic>
      <p:sp>
        <p:nvSpPr>
          <p:cNvPr id="5" name="Text 1"/>
          <p:cNvSpPr/>
          <p:nvPr/>
        </p:nvSpPr>
        <p:spPr>
          <a:xfrm>
            <a:off x="6511833" y="3898970"/>
            <a:ext cx="1606734" cy="283471"/>
          </a:xfrm>
          <a:prstGeom prst="rect">
            <a:avLst/>
          </a:prstGeom>
          <a:noFill/>
          <a:ln/>
        </p:spPr>
        <p:txBody>
          <a:bodyPr wrap="none" lIns="0" tIns="0" rIns="0" bIns="0" rtlCol="0" anchor="t"/>
          <a:lstStyle/>
          <a:p>
            <a:pPr marL="0" indent="0" algn="r">
              <a:lnSpc>
                <a:spcPts val="2200"/>
              </a:lnSpc>
              <a:buNone/>
            </a:pPr>
            <a:r>
              <a:rPr lang="en-US" sz="1750" b="1" dirty="0">
                <a:solidFill>
                  <a:srgbClr val="2E3C4E"/>
                </a:solidFill>
                <a:latin typeface="Barlow Bold" pitchFamily="34" charset="0"/>
                <a:ea typeface="Barlow Bold" pitchFamily="34" charset="-122"/>
                <a:cs typeface="Barlow Bold" pitchFamily="34" charset="-120"/>
              </a:rPr>
              <a:t>Conservation</a:t>
            </a:r>
            <a:endParaRPr lang="en-US" sz="1750" dirty="0"/>
          </a:p>
        </p:txBody>
      </p:sp>
      <p:sp>
        <p:nvSpPr>
          <p:cNvPr id="6" name="Text 2"/>
          <p:cNvSpPr/>
          <p:nvPr/>
        </p:nvSpPr>
        <p:spPr>
          <a:xfrm>
            <a:off x="9254672" y="5854257"/>
            <a:ext cx="1606734" cy="566942"/>
          </a:xfrm>
          <a:prstGeom prst="rect">
            <a:avLst/>
          </a:prstGeom>
          <a:noFill/>
          <a:ln/>
        </p:spPr>
        <p:txBody>
          <a:bodyPr wrap="square" lIns="0" tIns="0" rIns="0" bIns="0" rtlCol="0" anchor="t"/>
          <a:lstStyle/>
          <a:p>
            <a:pPr marL="0" indent="0" algn="ctr">
              <a:lnSpc>
                <a:spcPts val="2200"/>
              </a:lnSpc>
              <a:buNone/>
            </a:pPr>
            <a:r>
              <a:rPr lang="en-US" sz="1750" b="1" dirty="0">
                <a:solidFill>
                  <a:srgbClr val="2E3C4E"/>
                </a:solidFill>
                <a:latin typeface="Barlow Bold" pitchFamily="34" charset="0"/>
                <a:ea typeface="Barlow Bold" pitchFamily="34" charset="-122"/>
                <a:cs typeface="Barlow Bold" pitchFamily="34" charset="-120"/>
              </a:rPr>
              <a:t>NGO &amp; Community</a:t>
            </a:r>
            <a:endParaRPr lang="en-US" sz="1750" dirty="0"/>
          </a:p>
        </p:txBody>
      </p:sp>
      <p:sp>
        <p:nvSpPr>
          <p:cNvPr id="7" name="Text 3"/>
          <p:cNvSpPr/>
          <p:nvPr/>
        </p:nvSpPr>
        <p:spPr>
          <a:xfrm>
            <a:off x="12050878" y="3897272"/>
            <a:ext cx="1606734" cy="283471"/>
          </a:xfrm>
          <a:prstGeom prst="rect">
            <a:avLst/>
          </a:prstGeom>
          <a:noFill/>
          <a:ln/>
        </p:spPr>
        <p:txBody>
          <a:bodyPr wrap="none" lIns="0" tIns="0" rIns="0" bIns="0" rtlCol="0" anchor="t"/>
          <a:lstStyle/>
          <a:p>
            <a:pPr marL="0" indent="0" algn="l">
              <a:lnSpc>
                <a:spcPts val="2200"/>
              </a:lnSpc>
              <a:buNone/>
            </a:pPr>
            <a:r>
              <a:rPr lang="en-US" sz="1750" b="1" dirty="0">
                <a:solidFill>
                  <a:srgbClr val="2E3C4E"/>
                </a:solidFill>
                <a:latin typeface="Barlow Bold" pitchFamily="34" charset="0"/>
                <a:ea typeface="Barlow Bold" pitchFamily="34" charset="-122"/>
                <a:cs typeface="Barlow Bold" pitchFamily="34" charset="-120"/>
              </a:rPr>
              <a:t>Technology</a:t>
            </a:r>
            <a:endParaRPr lang="en-US" sz="1750" dirty="0"/>
          </a:p>
        </p:txBody>
      </p:sp>
      <p:sp>
        <p:nvSpPr>
          <p:cNvPr id="8" name="Text 4"/>
          <p:cNvSpPr/>
          <p:nvPr/>
        </p:nvSpPr>
        <p:spPr>
          <a:xfrm>
            <a:off x="9254672" y="1606239"/>
            <a:ext cx="1606734" cy="566942"/>
          </a:xfrm>
          <a:prstGeom prst="rect">
            <a:avLst/>
          </a:prstGeom>
          <a:noFill/>
          <a:ln/>
        </p:spPr>
        <p:txBody>
          <a:bodyPr wrap="square" lIns="0" tIns="0" rIns="0" bIns="0" rtlCol="0" anchor="t"/>
          <a:lstStyle/>
          <a:p>
            <a:pPr marL="0" indent="0" algn="ctr">
              <a:lnSpc>
                <a:spcPts val="2200"/>
              </a:lnSpc>
              <a:buNone/>
            </a:pPr>
            <a:r>
              <a:rPr lang="en-US" sz="1750" b="1" dirty="0">
                <a:solidFill>
                  <a:srgbClr val="2E3C4E"/>
                </a:solidFill>
                <a:latin typeface="Barlow Bold" pitchFamily="34" charset="0"/>
                <a:ea typeface="Barlow Bold" pitchFamily="34" charset="-122"/>
                <a:cs typeface="Barlow Bold" pitchFamily="34" charset="-120"/>
              </a:rPr>
              <a:t>Policy &amp; Governance</a:t>
            </a:r>
            <a:endParaRPr lang="en-US" sz="1750" dirty="0"/>
          </a:p>
        </p:txBody>
      </p:sp>
      <p:sp>
        <p:nvSpPr>
          <p:cNvPr id="9" name="Text 5"/>
          <p:cNvSpPr/>
          <p:nvPr/>
        </p:nvSpPr>
        <p:spPr>
          <a:xfrm>
            <a:off x="6161723" y="6656903"/>
            <a:ext cx="7793355" cy="875467"/>
          </a:xfrm>
          <a:prstGeom prst="rect">
            <a:avLst/>
          </a:prstGeom>
          <a:noFill/>
          <a:ln/>
        </p:spPr>
        <p:txBody>
          <a:bodyPr wrap="square" lIns="0" tIns="0" rIns="0" bIns="0" rtlCol="0" anchor="t"/>
          <a:lstStyle/>
          <a:p>
            <a:pPr marL="0" indent="0" algn="just">
              <a:lnSpc>
                <a:spcPts val="2250"/>
              </a:lnSpc>
              <a:buNone/>
            </a:pPr>
            <a:r>
              <a:rPr lang="en-US" sz="1500" dirty="0">
                <a:solidFill>
                  <a:srgbClr val="384653"/>
                </a:solidFill>
                <a:latin typeface="Montserrat" pitchFamily="34" charset="0"/>
                <a:ea typeface="Montserrat" pitchFamily="34" charset="-122"/>
                <a:cs typeface="Montserrat" pitchFamily="34" charset="-120"/>
              </a:rPr>
              <a:t>Progress requires all four pathways working in parallel — no single sector can close the gap alone. Governments set the framework; technology scales solutions; NGOs build local trust; and conservation ensures long-term resilience.</a:t>
            </a:r>
            <a:endParaRPr lang="en-US" sz="1500" dirty="0"/>
          </a:p>
        </p:txBody>
      </p:sp>
      <p:pic>
        <p:nvPicPr>
          <p:cNvPr id="2052" name="Picture 4">
            <a:extLst>
              <a:ext uri="{FF2B5EF4-FFF2-40B4-BE49-F238E27FC236}">
                <a16:creationId xmlns:a16="http://schemas.microsoft.com/office/drawing/2014/main" id="{E557AC31-BFB6-A515-7868-83146B233A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86" y="832512"/>
            <a:ext cx="5362544" cy="66998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052"/>
                                        </p:tgtEl>
                                        <p:attrNameLst>
                                          <p:attrName>style.visibility</p:attrName>
                                        </p:attrNameLst>
                                      </p:cBhvr>
                                      <p:to>
                                        <p:strVal val="visible"/>
                                      </p:to>
                                    </p:set>
                                    <p:animEffect transition="in" filter="fade">
                                      <p:cBhvr>
                                        <p:cTn id="49" dur="1000"/>
                                        <p:tgtEl>
                                          <p:spTgt spid="2052"/>
                                        </p:tgtEl>
                                      </p:cBhvr>
                                    </p:animEffect>
                                    <p:anim calcmode="lin" valueType="num">
                                      <p:cBhvr>
                                        <p:cTn id="50" dur="1000" fill="hold"/>
                                        <p:tgtEl>
                                          <p:spTgt spid="2052"/>
                                        </p:tgtEl>
                                        <p:attrNameLst>
                                          <p:attrName>ppt_x</p:attrName>
                                        </p:attrNameLst>
                                      </p:cBhvr>
                                      <p:tavLst>
                                        <p:tav tm="0">
                                          <p:val>
                                            <p:strVal val="#ppt_x"/>
                                          </p:val>
                                        </p:tav>
                                        <p:tav tm="100000">
                                          <p:val>
                                            <p:strVal val="#ppt_x"/>
                                          </p:val>
                                        </p:tav>
                                      </p:tavLst>
                                    </p:anim>
                                    <p:anim calcmode="lin" valueType="num">
                                      <p:cBhvr>
                                        <p:cTn id="51" dur="1000" fill="hold"/>
                                        <p:tgtEl>
                                          <p:spTgt spid="20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C6E953A6-726E-571C-4526-044ACB77D4BD}"/>
              </a:ext>
            </a:extLst>
          </p:cNvPr>
          <p:cNvSpPr/>
          <p:nvPr/>
        </p:nvSpPr>
        <p:spPr>
          <a:xfrm>
            <a:off x="746403" y="602337"/>
            <a:ext cx="10639901" cy="701516"/>
          </a:xfrm>
          <a:prstGeom prst="rect">
            <a:avLst/>
          </a:prstGeom>
          <a:noFill/>
          <a:ln/>
        </p:spPr>
        <p:txBody>
          <a:bodyPr wrap="none" lIns="0" tIns="0" rIns="0" bIns="0" rtlCol="0" anchor="t"/>
          <a:lstStyle/>
          <a:p>
            <a:pPr marL="0" indent="0" algn="l">
              <a:lnSpc>
                <a:spcPts val="5500"/>
              </a:lnSpc>
              <a:buNone/>
            </a:pPr>
            <a:r>
              <a:rPr lang="en-US" sz="4400" b="1" dirty="0">
                <a:solidFill>
                  <a:srgbClr val="2E3C4E"/>
                </a:solidFill>
                <a:latin typeface="Barlow Bold" pitchFamily="34" charset="0"/>
                <a:ea typeface="Barlow Bold" pitchFamily="34" charset="-122"/>
                <a:cs typeface="Barlow Bold" pitchFamily="34" charset="-120"/>
              </a:rPr>
              <a:t>Case Study: India's Swachh Bharat Abhiyan</a:t>
            </a:r>
            <a:endParaRPr lang="en-US" sz="4400" dirty="0"/>
          </a:p>
        </p:txBody>
      </p:sp>
      <p:sp>
        <p:nvSpPr>
          <p:cNvPr id="5" name="Text 1">
            <a:extLst>
              <a:ext uri="{FF2B5EF4-FFF2-40B4-BE49-F238E27FC236}">
                <a16:creationId xmlns:a16="http://schemas.microsoft.com/office/drawing/2014/main" id="{FC643890-0058-8DA8-12AA-0722E1F9263C}"/>
              </a:ext>
            </a:extLst>
          </p:cNvPr>
          <p:cNvSpPr/>
          <p:nvPr/>
        </p:nvSpPr>
        <p:spPr>
          <a:xfrm>
            <a:off x="746403" y="1807488"/>
            <a:ext cx="7674412" cy="1353979"/>
          </a:xfrm>
          <a:prstGeom prst="rect">
            <a:avLst/>
          </a:prstGeom>
          <a:noFill/>
          <a:ln/>
        </p:spPr>
        <p:txBody>
          <a:bodyPr wrap="square" lIns="0" tIns="0" rIns="0" bIns="0" rtlCol="0" anchor="t"/>
          <a:lstStyle/>
          <a:p>
            <a:pPr marL="0" indent="0" algn="l">
              <a:lnSpc>
                <a:spcPts val="2650"/>
              </a:lnSpc>
              <a:buNone/>
            </a:pPr>
            <a:r>
              <a:rPr lang="en-US" sz="1650" dirty="0">
                <a:solidFill>
                  <a:srgbClr val="384653"/>
                </a:solidFill>
                <a:latin typeface="Montserrat" pitchFamily="34" charset="0"/>
                <a:ea typeface="Montserrat" pitchFamily="34" charset="-122"/>
                <a:cs typeface="Montserrat" pitchFamily="34" charset="-120"/>
              </a:rPr>
              <a:t>Launched in 2014, </a:t>
            </a:r>
            <a:r>
              <a:rPr lang="en-US" sz="1650" b="1" dirty="0">
                <a:solidFill>
                  <a:srgbClr val="384653"/>
                </a:solidFill>
                <a:latin typeface="Montserrat" pitchFamily="34" charset="0"/>
                <a:ea typeface="Montserrat" pitchFamily="34" charset="-122"/>
                <a:cs typeface="Montserrat" pitchFamily="34" charset="-120"/>
              </a:rPr>
              <a:t>Swachh Bharat Abhiyan (SBM)</a:t>
            </a:r>
            <a:r>
              <a:rPr lang="en-US" sz="1650" dirty="0">
                <a:solidFill>
                  <a:srgbClr val="384653"/>
                </a:solidFill>
                <a:latin typeface="Montserrat" pitchFamily="34" charset="0"/>
                <a:ea typeface="Montserrat" pitchFamily="34" charset="-122"/>
                <a:cs typeface="Montserrat" pitchFamily="34" charset="-120"/>
              </a:rPr>
              <a:t> – or Clean India Mission – is one of the world's largest sanitation initiatives. Its primary goal was to eliminate open defecation across India by October 2019, building millions of household and community toilets.</a:t>
            </a:r>
            <a:endParaRPr lang="en-US" sz="1650" dirty="0"/>
          </a:p>
        </p:txBody>
      </p:sp>
      <p:pic>
        <p:nvPicPr>
          <p:cNvPr id="6" name="Image 0" descr="preencoded.png">
            <a:extLst>
              <a:ext uri="{FF2B5EF4-FFF2-40B4-BE49-F238E27FC236}">
                <a16:creationId xmlns:a16="http://schemas.microsoft.com/office/drawing/2014/main" id="{4BA11FC8-3870-47B4-F033-26D3601A70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6413" y="3408283"/>
            <a:ext cx="319802" cy="319802"/>
          </a:xfrm>
          <a:prstGeom prst="rect">
            <a:avLst/>
          </a:prstGeom>
        </p:spPr>
      </p:pic>
      <p:sp>
        <p:nvSpPr>
          <p:cNvPr id="7" name="Text 2">
            <a:extLst>
              <a:ext uri="{FF2B5EF4-FFF2-40B4-BE49-F238E27FC236}">
                <a16:creationId xmlns:a16="http://schemas.microsoft.com/office/drawing/2014/main" id="{A7FAC02C-E295-CB63-5BA4-94C7589B656B}"/>
              </a:ext>
            </a:extLst>
          </p:cNvPr>
          <p:cNvSpPr/>
          <p:nvPr/>
        </p:nvSpPr>
        <p:spPr>
          <a:xfrm>
            <a:off x="1439466" y="3397568"/>
            <a:ext cx="3012877" cy="1015484"/>
          </a:xfrm>
          <a:prstGeom prst="rect">
            <a:avLst/>
          </a:prstGeom>
          <a:noFill/>
          <a:ln/>
        </p:spPr>
        <p:txBody>
          <a:bodyPr wrap="square" lIns="0" tIns="0" rIns="0" bIns="0" rtlCol="0" anchor="t"/>
          <a:lstStyle/>
          <a:p>
            <a:pPr marL="0" indent="0" algn="l">
              <a:lnSpc>
                <a:spcPts val="2650"/>
              </a:lnSpc>
              <a:buNone/>
            </a:pPr>
            <a:r>
              <a:rPr lang="en-US" sz="1650" b="1" dirty="0">
                <a:solidFill>
                  <a:srgbClr val="384653"/>
                </a:solidFill>
                <a:latin typeface="Montserrat" pitchFamily="34" charset="0"/>
                <a:ea typeface="Montserrat" pitchFamily="34" charset="-122"/>
                <a:cs typeface="Montserrat" pitchFamily="34" charset="-120"/>
              </a:rPr>
              <a:t>Massive Infrastructure Rollout:</a:t>
            </a:r>
            <a:r>
              <a:rPr lang="en-US" sz="1650" dirty="0">
                <a:solidFill>
                  <a:srgbClr val="384653"/>
                </a:solidFill>
                <a:latin typeface="Montserrat" pitchFamily="34" charset="0"/>
                <a:ea typeface="Montserrat" pitchFamily="34" charset="-122"/>
                <a:cs typeface="Montserrat" pitchFamily="34" charset="-120"/>
              </a:rPr>
              <a:t> Over 100 million toilets constructed.</a:t>
            </a:r>
            <a:endParaRPr lang="en-US" sz="1650" dirty="0"/>
          </a:p>
        </p:txBody>
      </p:sp>
      <p:pic>
        <p:nvPicPr>
          <p:cNvPr id="8" name="Image 1" descr="preencoded.png">
            <a:extLst>
              <a:ext uri="{FF2B5EF4-FFF2-40B4-BE49-F238E27FC236}">
                <a16:creationId xmlns:a16="http://schemas.microsoft.com/office/drawing/2014/main" id="{8A325A6C-14FE-5272-976A-66BE43C9BC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94766" y="3408283"/>
            <a:ext cx="319802" cy="319802"/>
          </a:xfrm>
          <a:prstGeom prst="rect">
            <a:avLst/>
          </a:prstGeom>
        </p:spPr>
      </p:pic>
      <p:sp>
        <p:nvSpPr>
          <p:cNvPr id="9" name="Text 3">
            <a:extLst>
              <a:ext uri="{FF2B5EF4-FFF2-40B4-BE49-F238E27FC236}">
                <a16:creationId xmlns:a16="http://schemas.microsoft.com/office/drawing/2014/main" id="{A678F5DB-432A-6332-3F19-789E660208E1}"/>
              </a:ext>
            </a:extLst>
          </p:cNvPr>
          <p:cNvSpPr/>
          <p:nvPr/>
        </p:nvSpPr>
        <p:spPr>
          <a:xfrm>
            <a:off x="5407819" y="3397568"/>
            <a:ext cx="3012996" cy="1692473"/>
          </a:xfrm>
          <a:prstGeom prst="rect">
            <a:avLst/>
          </a:prstGeom>
          <a:noFill/>
          <a:ln/>
        </p:spPr>
        <p:txBody>
          <a:bodyPr wrap="square" lIns="0" tIns="0" rIns="0" bIns="0" rtlCol="0" anchor="t"/>
          <a:lstStyle/>
          <a:p>
            <a:pPr marL="0" indent="0" algn="l">
              <a:lnSpc>
                <a:spcPts val="2650"/>
              </a:lnSpc>
              <a:buNone/>
            </a:pPr>
            <a:r>
              <a:rPr lang="en-US" sz="1650" b="1" dirty="0">
                <a:solidFill>
                  <a:srgbClr val="384653"/>
                </a:solidFill>
                <a:latin typeface="Montserrat" pitchFamily="34" charset="0"/>
                <a:ea typeface="Montserrat" pitchFamily="34" charset="-122"/>
                <a:cs typeface="Montserrat" pitchFamily="34" charset="-120"/>
              </a:rPr>
              <a:t>Behavioral Change Campaigns:</a:t>
            </a:r>
            <a:r>
              <a:rPr lang="en-US" sz="1650" dirty="0">
                <a:solidFill>
                  <a:srgbClr val="384653"/>
                </a:solidFill>
                <a:latin typeface="Montserrat" pitchFamily="34" charset="0"/>
                <a:ea typeface="Montserrat" pitchFamily="34" charset="-122"/>
                <a:cs typeface="Montserrat" pitchFamily="34" charset="-120"/>
              </a:rPr>
              <a:t> Extensive public awareness campaigns promoted hygiene practices.</a:t>
            </a:r>
            <a:endParaRPr lang="en-US" sz="1650" dirty="0"/>
          </a:p>
        </p:txBody>
      </p:sp>
      <p:pic>
        <p:nvPicPr>
          <p:cNvPr id="10" name="Image 2" descr="preencoded.png">
            <a:extLst>
              <a:ext uri="{FF2B5EF4-FFF2-40B4-BE49-F238E27FC236}">
                <a16:creationId xmlns:a16="http://schemas.microsoft.com/office/drawing/2014/main" id="{4BFA64F4-3981-628B-9FFB-0195D8B9BEE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26413" y="5520571"/>
            <a:ext cx="319802" cy="319802"/>
          </a:xfrm>
          <a:prstGeom prst="rect">
            <a:avLst/>
          </a:prstGeom>
        </p:spPr>
      </p:pic>
      <p:sp>
        <p:nvSpPr>
          <p:cNvPr id="11" name="Text 4">
            <a:extLst>
              <a:ext uri="{FF2B5EF4-FFF2-40B4-BE49-F238E27FC236}">
                <a16:creationId xmlns:a16="http://schemas.microsoft.com/office/drawing/2014/main" id="{2A39F578-D121-25D2-E92C-6AF4416CB433}"/>
              </a:ext>
            </a:extLst>
          </p:cNvPr>
          <p:cNvSpPr/>
          <p:nvPr/>
        </p:nvSpPr>
        <p:spPr>
          <a:xfrm>
            <a:off x="1439466" y="5509855"/>
            <a:ext cx="6981349" cy="676989"/>
          </a:xfrm>
          <a:prstGeom prst="rect">
            <a:avLst/>
          </a:prstGeom>
          <a:noFill/>
          <a:ln/>
        </p:spPr>
        <p:txBody>
          <a:bodyPr wrap="square" lIns="0" tIns="0" rIns="0" bIns="0" rtlCol="0" anchor="t"/>
          <a:lstStyle/>
          <a:p>
            <a:pPr marL="0" indent="0" algn="l">
              <a:lnSpc>
                <a:spcPts val="2650"/>
              </a:lnSpc>
              <a:buNone/>
            </a:pPr>
            <a:r>
              <a:rPr lang="en-US" sz="1650" b="1" dirty="0">
                <a:solidFill>
                  <a:srgbClr val="384653"/>
                </a:solidFill>
                <a:latin typeface="Montserrat" pitchFamily="34" charset="0"/>
                <a:ea typeface="Montserrat" pitchFamily="34" charset="-122"/>
                <a:cs typeface="Montserrat" pitchFamily="34" charset="-120"/>
              </a:rPr>
              <a:t>Community Participation:</a:t>
            </a:r>
            <a:r>
              <a:rPr lang="en-US" sz="1650" dirty="0">
                <a:solidFill>
                  <a:srgbClr val="384653"/>
                </a:solidFill>
                <a:latin typeface="Montserrat" pitchFamily="34" charset="0"/>
                <a:ea typeface="Montserrat" pitchFamily="34" charset="-122"/>
                <a:cs typeface="Montserrat" pitchFamily="34" charset="-120"/>
              </a:rPr>
              <a:t> Local communities were engaged in planning and maintenance.</a:t>
            </a:r>
            <a:endParaRPr lang="en-US" sz="1650" dirty="0"/>
          </a:p>
        </p:txBody>
      </p:sp>
      <p:sp>
        <p:nvSpPr>
          <p:cNvPr id="12" name="Text 5">
            <a:extLst>
              <a:ext uri="{FF2B5EF4-FFF2-40B4-BE49-F238E27FC236}">
                <a16:creationId xmlns:a16="http://schemas.microsoft.com/office/drawing/2014/main" id="{30D3091D-3E91-2E26-0C95-A77FB16586E0}"/>
              </a:ext>
            </a:extLst>
          </p:cNvPr>
          <p:cNvSpPr/>
          <p:nvPr/>
        </p:nvSpPr>
        <p:spPr>
          <a:xfrm>
            <a:off x="746403" y="6422946"/>
            <a:ext cx="7674412" cy="1015484"/>
          </a:xfrm>
          <a:prstGeom prst="rect">
            <a:avLst/>
          </a:prstGeom>
          <a:noFill/>
          <a:ln/>
        </p:spPr>
        <p:txBody>
          <a:bodyPr wrap="square" lIns="0" tIns="0" rIns="0" bIns="0" rtlCol="0" anchor="t"/>
          <a:lstStyle/>
          <a:p>
            <a:pPr marL="0" indent="0" algn="l">
              <a:lnSpc>
                <a:spcPts val="2650"/>
              </a:lnSpc>
              <a:buNone/>
            </a:pPr>
            <a:r>
              <a:rPr lang="en-US" sz="1650" dirty="0">
                <a:solidFill>
                  <a:srgbClr val="384653"/>
                </a:solidFill>
                <a:latin typeface="Montserrat" pitchFamily="34" charset="0"/>
                <a:ea typeface="Montserrat" pitchFamily="34" charset="-122"/>
                <a:cs typeface="Montserrat" pitchFamily="34" charset="-120"/>
              </a:rPr>
              <a:t>While achieving </a:t>
            </a:r>
            <a:r>
              <a:rPr lang="en-US" sz="1650" b="1" dirty="0">
                <a:solidFill>
                  <a:srgbClr val="384653"/>
                </a:solidFill>
                <a:latin typeface="Montserrat" pitchFamily="34" charset="0"/>
                <a:ea typeface="Montserrat" pitchFamily="34" charset="-122"/>
                <a:cs typeface="Montserrat" pitchFamily="34" charset="-120"/>
              </a:rPr>
              <a:t>Open Defecation Free (ODF)</a:t>
            </a:r>
            <a:r>
              <a:rPr lang="en-US" sz="1650" dirty="0">
                <a:solidFill>
                  <a:srgbClr val="384653"/>
                </a:solidFill>
                <a:latin typeface="Montserrat" pitchFamily="34" charset="0"/>
                <a:ea typeface="Montserrat" pitchFamily="34" charset="-122"/>
                <a:cs typeface="Montserrat" pitchFamily="34" charset="-120"/>
              </a:rPr>
              <a:t> status for many areas, the focus has now shifted to </a:t>
            </a:r>
            <a:r>
              <a:rPr lang="en-US" sz="1650" b="1" dirty="0">
                <a:solidFill>
                  <a:srgbClr val="384653"/>
                </a:solidFill>
                <a:latin typeface="Montserrat" pitchFamily="34" charset="0"/>
                <a:ea typeface="Montserrat" pitchFamily="34" charset="-122"/>
                <a:cs typeface="Montserrat" pitchFamily="34" charset="-120"/>
              </a:rPr>
              <a:t>ODF Plus</a:t>
            </a:r>
            <a:r>
              <a:rPr lang="en-US" sz="1650" dirty="0">
                <a:solidFill>
                  <a:srgbClr val="384653"/>
                </a:solidFill>
                <a:latin typeface="Montserrat" pitchFamily="34" charset="0"/>
                <a:ea typeface="Montserrat" pitchFamily="34" charset="-122"/>
                <a:cs typeface="Montserrat" pitchFamily="34" charset="-120"/>
              </a:rPr>
              <a:t>, emphasizing sustainability, usability, and solid and liquid waste management.</a:t>
            </a:r>
            <a:endParaRPr lang="en-US" sz="1650" dirty="0"/>
          </a:p>
        </p:txBody>
      </p:sp>
      <p:pic>
        <p:nvPicPr>
          <p:cNvPr id="13" name="Image 3" descr="preencoded.png">
            <a:extLst>
              <a:ext uri="{FF2B5EF4-FFF2-40B4-BE49-F238E27FC236}">
                <a16:creationId xmlns:a16="http://schemas.microsoft.com/office/drawing/2014/main" id="{ED478323-88BB-62D9-7A24-80D5778456C4}"/>
              </a:ext>
            </a:extLst>
          </p:cNvPr>
          <p:cNvPicPr>
            <a:picLocks noChangeAspect="1"/>
          </p:cNvPicPr>
          <p:nvPr/>
        </p:nvPicPr>
        <p:blipFill>
          <a:blip r:embed="rId3"/>
          <a:stretch>
            <a:fillRect/>
          </a:stretch>
        </p:blipFill>
        <p:spPr>
          <a:xfrm>
            <a:off x="8420815" y="1675209"/>
            <a:ext cx="5998367" cy="5763221"/>
          </a:xfrm>
          <a:prstGeom prst="rect">
            <a:avLst/>
          </a:prstGeom>
        </p:spPr>
      </p:pic>
    </p:spTree>
    <p:extLst>
      <p:ext uri="{BB962C8B-B14F-4D97-AF65-F5344CB8AC3E}">
        <p14:creationId xmlns:p14="http://schemas.microsoft.com/office/powerpoint/2010/main" val="239158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ppt_x</p:attrName>
                                        </p:attrNameLst>
                                      </p:cBhvr>
                                      <p:tavLst>
                                        <p:tav tm="0">
                                          <p:val>
                                            <p:strVal val="#ppt_x"/>
                                          </p:val>
                                        </p:tav>
                                        <p:tav tm="100000">
                                          <p:val>
                                            <p:strVal val="#ppt_x"/>
                                          </p:val>
                                        </p:tav>
                                      </p:tavLst>
                                    </p:anim>
                                    <p:anim calcmode="lin" valueType="num">
                                      <p:cBhvr>
                                        <p:cTn id="45" dur="1000" fill="hold"/>
                                        <p:tgtEl>
                                          <p:spTgt spid="11"/>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9" grpId="0" animBg="1"/>
      <p:bldP spid="11" grpId="0" animBg="1"/>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76394" y="585788"/>
            <a:ext cx="4810720" cy="601385"/>
          </a:xfrm>
          <a:prstGeom prst="rect">
            <a:avLst/>
          </a:prstGeom>
          <a:noFill/>
          <a:ln/>
        </p:spPr>
        <p:txBody>
          <a:bodyPr wrap="none" lIns="0" tIns="0" rIns="0" bIns="0" rtlCol="0" anchor="t"/>
          <a:lstStyle/>
          <a:p>
            <a:pPr marL="0" indent="0" algn="l">
              <a:lnSpc>
                <a:spcPts val="4700"/>
              </a:lnSpc>
              <a:buNone/>
            </a:pPr>
            <a:r>
              <a:rPr lang="en-US" sz="3750" b="1" dirty="0">
                <a:solidFill>
                  <a:srgbClr val="2E3C4E"/>
                </a:solidFill>
                <a:latin typeface="Barlow Bold" pitchFamily="34" charset="0"/>
                <a:ea typeface="Barlow Bold" pitchFamily="34" charset="-122"/>
                <a:cs typeface="Barlow Bold" pitchFamily="34" charset="-120"/>
              </a:rPr>
              <a:t>The Path Forward</a:t>
            </a:r>
            <a:endParaRPr lang="en-US" sz="3750" dirty="0"/>
          </a:p>
        </p:txBody>
      </p:sp>
      <p:sp>
        <p:nvSpPr>
          <p:cNvPr id="3" name="Shape 1"/>
          <p:cNvSpPr/>
          <p:nvPr/>
        </p:nvSpPr>
        <p:spPr>
          <a:xfrm>
            <a:off x="676394" y="1495544"/>
            <a:ext cx="1453634" cy="325160"/>
          </a:xfrm>
          <a:prstGeom prst="roundRect">
            <a:avLst>
              <a:gd name="adj" fmla="val 67465"/>
            </a:avLst>
          </a:prstGeom>
          <a:solidFill>
            <a:srgbClr val="D4E9F7"/>
          </a:solidFill>
          <a:ln/>
        </p:spPr>
        <p:txBody>
          <a:bodyPr/>
          <a:lstStyle/>
          <a:p>
            <a:endParaRPr lang="en-IN"/>
          </a:p>
        </p:txBody>
      </p:sp>
      <p:sp>
        <p:nvSpPr>
          <p:cNvPr id="4" name="Text 2"/>
          <p:cNvSpPr/>
          <p:nvPr/>
        </p:nvSpPr>
        <p:spPr>
          <a:xfrm>
            <a:off x="786051" y="1550313"/>
            <a:ext cx="1234321" cy="215622"/>
          </a:xfrm>
          <a:prstGeom prst="rect">
            <a:avLst/>
          </a:prstGeom>
          <a:noFill/>
          <a:ln/>
        </p:spPr>
        <p:txBody>
          <a:bodyPr wrap="none" lIns="0" tIns="0" rIns="0" bIns="0" rtlCol="0" anchor="t"/>
          <a:lstStyle/>
          <a:p>
            <a:pPr marL="0" indent="0" algn="l">
              <a:lnSpc>
                <a:spcPts val="1650"/>
              </a:lnSpc>
              <a:buNone/>
            </a:pPr>
            <a:r>
              <a:rPr lang="en-US" sz="1150" dirty="0">
                <a:solidFill>
                  <a:srgbClr val="384653"/>
                </a:solidFill>
                <a:latin typeface="Montserrat" pitchFamily="34" charset="0"/>
                <a:ea typeface="Montserrat" pitchFamily="34" charset="-122"/>
                <a:cs typeface="Montserrat" pitchFamily="34" charset="-120"/>
              </a:rPr>
              <a:t>CALL TO ACTION</a:t>
            </a:r>
            <a:endParaRPr lang="en-US" sz="1150" dirty="0"/>
          </a:p>
        </p:txBody>
      </p:sp>
      <p:sp>
        <p:nvSpPr>
          <p:cNvPr id="5" name="Shape 3"/>
          <p:cNvSpPr/>
          <p:nvPr/>
        </p:nvSpPr>
        <p:spPr>
          <a:xfrm>
            <a:off x="544711" y="1994178"/>
            <a:ext cx="6679168" cy="5649635"/>
          </a:xfrm>
          <a:prstGeom prst="roundRect">
            <a:avLst>
              <a:gd name="adj" fmla="val 7766"/>
            </a:avLst>
          </a:prstGeom>
          <a:solidFill>
            <a:srgbClr val="063E5F"/>
          </a:solidFill>
          <a:ln/>
        </p:spPr>
        <p:txBody>
          <a:bodyPr/>
          <a:lstStyle/>
          <a:p>
            <a:endParaRPr lang="en-IN"/>
          </a:p>
        </p:txBody>
      </p:sp>
      <p:sp>
        <p:nvSpPr>
          <p:cNvPr id="6" name="Text 4"/>
          <p:cNvSpPr/>
          <p:nvPr/>
        </p:nvSpPr>
        <p:spPr>
          <a:xfrm>
            <a:off x="727472" y="2148364"/>
            <a:ext cx="6313646" cy="1659731"/>
          </a:xfrm>
          <a:prstGeom prst="rect">
            <a:avLst/>
          </a:prstGeom>
          <a:noFill/>
          <a:ln/>
        </p:spPr>
        <p:txBody>
          <a:bodyPr wrap="square" lIns="0" tIns="0" rIns="0" bIns="0" rtlCol="0" anchor="t"/>
          <a:lstStyle/>
          <a:p>
            <a:pPr marL="0" indent="0" algn="l">
              <a:lnSpc>
                <a:spcPts val="6500"/>
              </a:lnSpc>
              <a:buNone/>
            </a:pPr>
            <a:r>
              <a:rPr lang="en-US" sz="5200" b="1" dirty="0">
                <a:solidFill>
                  <a:srgbClr val="75BAE6"/>
                </a:solidFill>
                <a:latin typeface="Barlow Bold" pitchFamily="34" charset="0"/>
                <a:ea typeface="Barlow Bold" pitchFamily="34" charset="-122"/>
                <a:cs typeface="Barlow Bold" pitchFamily="34" charset="-120"/>
              </a:rPr>
              <a:t>Water is not a privilege.</a:t>
            </a:r>
            <a:endParaRPr lang="en-US" sz="5200" dirty="0"/>
          </a:p>
        </p:txBody>
      </p:sp>
      <p:sp>
        <p:nvSpPr>
          <p:cNvPr id="7" name="Text 5"/>
          <p:cNvSpPr/>
          <p:nvPr/>
        </p:nvSpPr>
        <p:spPr>
          <a:xfrm>
            <a:off x="727472" y="3962281"/>
            <a:ext cx="6313646" cy="808673"/>
          </a:xfrm>
          <a:prstGeom prst="rect">
            <a:avLst/>
          </a:prstGeom>
          <a:noFill/>
          <a:ln/>
        </p:spPr>
        <p:txBody>
          <a:bodyPr wrap="square" lIns="0" tIns="0" rIns="0" bIns="0" rtlCol="0" anchor="t"/>
          <a:lstStyle/>
          <a:p>
            <a:pPr marL="0" indent="0" algn="l">
              <a:lnSpc>
                <a:spcPts val="2100"/>
              </a:lnSpc>
              <a:buNone/>
            </a:pPr>
            <a:r>
              <a:rPr lang="en-US" sz="1400" dirty="0">
                <a:solidFill>
                  <a:srgbClr val="FFFFFF"/>
                </a:solidFill>
                <a:latin typeface="Montserrat" pitchFamily="34" charset="0"/>
                <a:ea typeface="Montserrat" pitchFamily="34" charset="-122"/>
                <a:cs typeface="Montserrat" pitchFamily="34" charset="-120"/>
              </a:rPr>
              <a:t>Safe water and sanitation are the bedrock of every other development goal. When we secure SDG 6, we unlock health, education, equality, and resilience for all.</a:t>
            </a:r>
            <a:endParaRPr lang="en-US" sz="1400" dirty="0"/>
          </a:p>
        </p:txBody>
      </p:sp>
      <p:sp>
        <p:nvSpPr>
          <p:cNvPr id="8" name="Text 6"/>
          <p:cNvSpPr/>
          <p:nvPr/>
        </p:nvSpPr>
        <p:spPr>
          <a:xfrm>
            <a:off x="7545824" y="2148364"/>
            <a:ext cx="2405301" cy="300633"/>
          </a:xfrm>
          <a:prstGeom prst="rect">
            <a:avLst/>
          </a:prstGeom>
          <a:noFill/>
          <a:ln/>
        </p:spPr>
        <p:txBody>
          <a:bodyPr wrap="none" lIns="0" tIns="0" rIns="0" bIns="0" rtlCol="0" anchor="t"/>
          <a:lstStyle/>
          <a:p>
            <a:pPr marL="0" indent="0" algn="l">
              <a:lnSpc>
                <a:spcPts val="2350"/>
              </a:lnSpc>
              <a:buNone/>
            </a:pPr>
            <a:r>
              <a:rPr lang="en-US" sz="1850" b="1" dirty="0">
                <a:solidFill>
                  <a:srgbClr val="2E3C4E"/>
                </a:solidFill>
                <a:latin typeface="Barlow Bold" pitchFamily="34" charset="0"/>
                <a:ea typeface="Barlow Bold" pitchFamily="34" charset="-122"/>
                <a:cs typeface="Barlow Bold" pitchFamily="34" charset="-120"/>
              </a:rPr>
              <a:t>Every Actor Has a Role</a:t>
            </a:r>
            <a:endParaRPr lang="en-US" sz="1850" dirty="0"/>
          </a:p>
        </p:txBody>
      </p:sp>
      <p:sp>
        <p:nvSpPr>
          <p:cNvPr id="9" name="Shape 7"/>
          <p:cNvSpPr/>
          <p:nvPr/>
        </p:nvSpPr>
        <p:spPr>
          <a:xfrm>
            <a:off x="7545824" y="2622471"/>
            <a:ext cx="3130748" cy="2616398"/>
          </a:xfrm>
          <a:prstGeom prst="roundRect">
            <a:avLst>
              <a:gd name="adj" fmla="val 10481"/>
            </a:avLst>
          </a:prstGeom>
          <a:solidFill>
            <a:srgbClr val="D4E9F7"/>
          </a:solidFill>
          <a:ln w="7620">
            <a:solidFill>
              <a:srgbClr val="BACFDD"/>
            </a:solidFill>
            <a:prstDash val="solid"/>
          </a:ln>
        </p:spPr>
        <p:txBody>
          <a:bodyPr/>
          <a:lstStyle/>
          <a:p>
            <a:endParaRPr lang="en-IN"/>
          </a:p>
        </p:txBody>
      </p:sp>
      <p:pic>
        <p:nvPicPr>
          <p:cNvPr id="10" name="Image 0" descr="preencoded.png"/>
          <p:cNvPicPr>
            <a:picLocks noChangeAspect="1"/>
          </p:cNvPicPr>
          <p:nvPr/>
        </p:nvPicPr>
        <p:blipFill>
          <a:blip r:embed="rId3"/>
          <a:stretch>
            <a:fillRect/>
          </a:stretch>
        </p:blipFill>
        <p:spPr>
          <a:xfrm>
            <a:off x="7736205" y="2812852"/>
            <a:ext cx="548402" cy="548402"/>
          </a:xfrm>
          <a:prstGeom prst="rect">
            <a:avLst/>
          </a:prstGeom>
        </p:spPr>
      </p:pic>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87057" y="2963704"/>
            <a:ext cx="246698" cy="246698"/>
          </a:xfrm>
          <a:prstGeom prst="rect">
            <a:avLst/>
          </a:prstGeom>
        </p:spPr>
      </p:pic>
      <p:sp>
        <p:nvSpPr>
          <p:cNvPr id="12" name="Text 8"/>
          <p:cNvSpPr/>
          <p:nvPr/>
        </p:nvSpPr>
        <p:spPr>
          <a:xfrm>
            <a:off x="7736205" y="3515439"/>
            <a:ext cx="2405301" cy="300633"/>
          </a:xfrm>
          <a:prstGeom prst="rect">
            <a:avLst/>
          </a:prstGeom>
          <a:noFill/>
          <a:ln/>
        </p:spPr>
        <p:txBody>
          <a:bodyPr wrap="none" lIns="0" tIns="0" rIns="0" bIns="0" rtlCol="0" anchor="t"/>
          <a:lstStyle/>
          <a:p>
            <a:pPr marL="0" indent="0" algn="l">
              <a:lnSpc>
                <a:spcPts val="2350"/>
              </a:lnSpc>
              <a:buNone/>
            </a:pPr>
            <a:r>
              <a:rPr lang="en-US" sz="1850" b="1" dirty="0">
                <a:solidFill>
                  <a:srgbClr val="384653"/>
                </a:solidFill>
                <a:latin typeface="Barlow Bold" pitchFamily="34" charset="0"/>
                <a:ea typeface="Barlow Bold" pitchFamily="34" charset="-122"/>
                <a:cs typeface="Barlow Bold" pitchFamily="34" charset="-120"/>
              </a:rPr>
              <a:t>Policymakers</a:t>
            </a:r>
            <a:endParaRPr lang="en-US" sz="1850" dirty="0"/>
          </a:p>
        </p:txBody>
      </p:sp>
      <p:sp>
        <p:nvSpPr>
          <p:cNvPr id="13" name="Text 9"/>
          <p:cNvSpPr/>
          <p:nvPr/>
        </p:nvSpPr>
        <p:spPr>
          <a:xfrm>
            <a:off x="7736205" y="3970258"/>
            <a:ext cx="2749987" cy="808673"/>
          </a:xfrm>
          <a:prstGeom prst="rect">
            <a:avLst/>
          </a:prstGeom>
          <a:noFill/>
          <a:ln/>
        </p:spPr>
        <p:txBody>
          <a:bodyPr wrap="square" lIns="0" tIns="0" rIns="0" bIns="0" rtlCol="0" anchor="t"/>
          <a:lstStyle/>
          <a:p>
            <a:pPr marL="0" indent="0" algn="l">
              <a:lnSpc>
                <a:spcPts val="2100"/>
              </a:lnSpc>
              <a:buNone/>
            </a:pPr>
            <a:r>
              <a:rPr lang="en-US" sz="1400" dirty="0">
                <a:solidFill>
                  <a:srgbClr val="384653"/>
                </a:solidFill>
                <a:latin typeface="Montserrat" pitchFamily="34" charset="0"/>
                <a:ea typeface="Montserrat" pitchFamily="34" charset="-122"/>
                <a:cs typeface="Montserrat" pitchFamily="34" charset="-120"/>
              </a:rPr>
              <a:t>Fund, regulate, and prioritize WASH in national development plans.</a:t>
            </a:r>
            <a:endParaRPr lang="en-US" sz="1400" dirty="0"/>
          </a:p>
        </p:txBody>
      </p:sp>
      <p:sp>
        <p:nvSpPr>
          <p:cNvPr id="14" name="Shape 10"/>
          <p:cNvSpPr/>
          <p:nvPr/>
        </p:nvSpPr>
        <p:spPr>
          <a:xfrm>
            <a:off x="10830758" y="2622471"/>
            <a:ext cx="3130868" cy="2616398"/>
          </a:xfrm>
          <a:prstGeom prst="roundRect">
            <a:avLst>
              <a:gd name="adj" fmla="val 10481"/>
            </a:avLst>
          </a:prstGeom>
          <a:solidFill>
            <a:srgbClr val="D4E9F7"/>
          </a:solidFill>
          <a:ln w="7620">
            <a:solidFill>
              <a:srgbClr val="BACFDD"/>
            </a:solidFill>
            <a:prstDash val="solid"/>
          </a:ln>
        </p:spPr>
        <p:txBody>
          <a:bodyPr/>
          <a:lstStyle/>
          <a:p>
            <a:endParaRPr lang="en-IN"/>
          </a:p>
        </p:txBody>
      </p:sp>
      <p:pic>
        <p:nvPicPr>
          <p:cNvPr id="15" name="Image 2" descr="preencoded.png"/>
          <p:cNvPicPr>
            <a:picLocks noChangeAspect="1"/>
          </p:cNvPicPr>
          <p:nvPr/>
        </p:nvPicPr>
        <p:blipFill>
          <a:blip r:embed="rId5"/>
          <a:stretch>
            <a:fillRect/>
          </a:stretch>
        </p:blipFill>
        <p:spPr>
          <a:xfrm>
            <a:off x="11021139" y="2812852"/>
            <a:ext cx="548402" cy="548402"/>
          </a:xfrm>
          <a:prstGeom prst="rect">
            <a:avLst/>
          </a:prstGeom>
        </p:spPr>
      </p:pic>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171992" y="2963704"/>
            <a:ext cx="246698" cy="246698"/>
          </a:xfrm>
          <a:prstGeom prst="rect">
            <a:avLst/>
          </a:prstGeom>
        </p:spPr>
      </p:pic>
      <p:sp>
        <p:nvSpPr>
          <p:cNvPr id="17" name="Text 11"/>
          <p:cNvSpPr/>
          <p:nvPr/>
        </p:nvSpPr>
        <p:spPr>
          <a:xfrm>
            <a:off x="11021139" y="3515439"/>
            <a:ext cx="2405301" cy="300633"/>
          </a:xfrm>
          <a:prstGeom prst="rect">
            <a:avLst/>
          </a:prstGeom>
          <a:noFill/>
          <a:ln/>
        </p:spPr>
        <p:txBody>
          <a:bodyPr wrap="none" lIns="0" tIns="0" rIns="0" bIns="0" rtlCol="0" anchor="t"/>
          <a:lstStyle/>
          <a:p>
            <a:pPr marL="0" indent="0" algn="l">
              <a:lnSpc>
                <a:spcPts val="2350"/>
              </a:lnSpc>
              <a:buNone/>
            </a:pPr>
            <a:r>
              <a:rPr lang="en-US" sz="1850" b="1" dirty="0">
                <a:solidFill>
                  <a:srgbClr val="384653"/>
                </a:solidFill>
                <a:latin typeface="Barlow Bold" pitchFamily="34" charset="0"/>
                <a:ea typeface="Barlow Bold" pitchFamily="34" charset="-122"/>
                <a:cs typeface="Barlow Bold" pitchFamily="34" charset="-120"/>
              </a:rPr>
              <a:t>NGOs &amp; Partners</a:t>
            </a:r>
            <a:endParaRPr lang="en-US" sz="1850" dirty="0"/>
          </a:p>
        </p:txBody>
      </p:sp>
      <p:sp>
        <p:nvSpPr>
          <p:cNvPr id="18" name="Text 12"/>
          <p:cNvSpPr/>
          <p:nvPr/>
        </p:nvSpPr>
        <p:spPr>
          <a:xfrm>
            <a:off x="11021139" y="3970258"/>
            <a:ext cx="2750106" cy="1078230"/>
          </a:xfrm>
          <a:prstGeom prst="rect">
            <a:avLst/>
          </a:prstGeom>
          <a:noFill/>
          <a:ln/>
        </p:spPr>
        <p:txBody>
          <a:bodyPr wrap="square" lIns="0" tIns="0" rIns="0" bIns="0" rtlCol="0" anchor="t"/>
          <a:lstStyle/>
          <a:p>
            <a:pPr marL="0" indent="0" algn="l">
              <a:lnSpc>
                <a:spcPts val="2100"/>
              </a:lnSpc>
              <a:buNone/>
            </a:pPr>
            <a:r>
              <a:rPr lang="en-US" sz="1400" dirty="0">
                <a:solidFill>
                  <a:srgbClr val="384653"/>
                </a:solidFill>
                <a:latin typeface="Montserrat" pitchFamily="34" charset="0"/>
                <a:ea typeface="Montserrat" pitchFamily="34" charset="-122"/>
                <a:cs typeface="Montserrat" pitchFamily="34" charset="-120"/>
              </a:rPr>
              <a:t>Bridge gaps, mobilize communities, and deliver where governments cannot reach.</a:t>
            </a:r>
            <a:endParaRPr lang="en-US" sz="1400" dirty="0"/>
          </a:p>
        </p:txBody>
      </p:sp>
      <p:sp>
        <p:nvSpPr>
          <p:cNvPr id="19" name="Shape 13"/>
          <p:cNvSpPr/>
          <p:nvPr/>
        </p:nvSpPr>
        <p:spPr>
          <a:xfrm>
            <a:off x="7545824" y="5393055"/>
            <a:ext cx="6415802" cy="2077283"/>
          </a:xfrm>
          <a:prstGeom prst="roundRect">
            <a:avLst>
              <a:gd name="adj" fmla="val 13201"/>
            </a:avLst>
          </a:prstGeom>
          <a:solidFill>
            <a:srgbClr val="D4E9F7"/>
          </a:solidFill>
          <a:ln w="7620">
            <a:solidFill>
              <a:srgbClr val="BACFDD"/>
            </a:solidFill>
            <a:prstDash val="solid"/>
          </a:ln>
        </p:spPr>
        <p:txBody>
          <a:bodyPr/>
          <a:lstStyle/>
          <a:p>
            <a:endParaRPr lang="en-IN"/>
          </a:p>
        </p:txBody>
      </p:sp>
      <p:pic>
        <p:nvPicPr>
          <p:cNvPr id="20" name="Image 4" descr="preencoded.png"/>
          <p:cNvPicPr>
            <a:picLocks noChangeAspect="1"/>
          </p:cNvPicPr>
          <p:nvPr/>
        </p:nvPicPr>
        <p:blipFill>
          <a:blip r:embed="rId7"/>
          <a:stretch>
            <a:fillRect/>
          </a:stretch>
        </p:blipFill>
        <p:spPr>
          <a:xfrm>
            <a:off x="7736205" y="5583436"/>
            <a:ext cx="548402" cy="548402"/>
          </a:xfrm>
          <a:prstGeom prst="rect">
            <a:avLst/>
          </a:prstGeom>
        </p:spPr>
      </p:pic>
      <p:pic>
        <p:nvPicPr>
          <p:cNvPr id="2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887057" y="5734288"/>
            <a:ext cx="246698" cy="246698"/>
          </a:xfrm>
          <a:prstGeom prst="rect">
            <a:avLst/>
          </a:prstGeom>
        </p:spPr>
      </p:pic>
      <p:sp>
        <p:nvSpPr>
          <p:cNvPr id="22" name="Text 14"/>
          <p:cNvSpPr/>
          <p:nvPr/>
        </p:nvSpPr>
        <p:spPr>
          <a:xfrm>
            <a:off x="7736205" y="6286024"/>
            <a:ext cx="2405301" cy="300633"/>
          </a:xfrm>
          <a:prstGeom prst="rect">
            <a:avLst/>
          </a:prstGeom>
          <a:noFill/>
          <a:ln/>
        </p:spPr>
        <p:txBody>
          <a:bodyPr wrap="none" lIns="0" tIns="0" rIns="0" bIns="0" rtlCol="0" anchor="t"/>
          <a:lstStyle/>
          <a:p>
            <a:pPr marL="0" indent="0" algn="l">
              <a:lnSpc>
                <a:spcPts val="2350"/>
              </a:lnSpc>
              <a:buNone/>
            </a:pPr>
            <a:r>
              <a:rPr lang="en-US" sz="1850" b="1" dirty="0">
                <a:solidFill>
                  <a:srgbClr val="384653"/>
                </a:solidFill>
                <a:latin typeface="Barlow Bold" pitchFamily="34" charset="0"/>
                <a:ea typeface="Barlow Bold" pitchFamily="34" charset="-122"/>
                <a:cs typeface="Barlow Bold" pitchFamily="34" charset="-120"/>
              </a:rPr>
              <a:t>Citizens</a:t>
            </a:r>
            <a:endParaRPr lang="en-US" sz="1850" dirty="0"/>
          </a:p>
        </p:txBody>
      </p:sp>
      <p:sp>
        <p:nvSpPr>
          <p:cNvPr id="23" name="Text 15"/>
          <p:cNvSpPr/>
          <p:nvPr/>
        </p:nvSpPr>
        <p:spPr>
          <a:xfrm>
            <a:off x="7736205" y="6740843"/>
            <a:ext cx="6035040" cy="539115"/>
          </a:xfrm>
          <a:prstGeom prst="rect">
            <a:avLst/>
          </a:prstGeom>
          <a:noFill/>
          <a:ln/>
        </p:spPr>
        <p:txBody>
          <a:bodyPr wrap="square" lIns="0" tIns="0" rIns="0" bIns="0" rtlCol="0" anchor="t"/>
          <a:lstStyle/>
          <a:p>
            <a:pPr marL="0" indent="0" algn="l">
              <a:lnSpc>
                <a:spcPts val="2100"/>
              </a:lnSpc>
              <a:buNone/>
            </a:pPr>
            <a:r>
              <a:rPr lang="en-US" sz="1400" dirty="0">
                <a:solidFill>
                  <a:srgbClr val="384653"/>
                </a:solidFill>
                <a:latin typeface="Montserrat" pitchFamily="34" charset="0"/>
                <a:ea typeface="Montserrat" pitchFamily="34" charset="-122"/>
                <a:cs typeface="Montserrat" pitchFamily="34" charset="-120"/>
              </a:rPr>
              <a:t>Conserve water, demand accountability, and support awareness campaigns.</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1000"/>
                                        <p:tgtEl>
                                          <p:spTgt spid="7"/>
                                        </p:tgtEl>
                                      </p:cBhvr>
                                    </p:animEffect>
                                    <p:anim calcmode="lin" valueType="num">
                                      <p:cBhvr>
                                        <p:cTn id="30" dur="1000" fill="hold"/>
                                        <p:tgtEl>
                                          <p:spTgt spid="7"/>
                                        </p:tgtEl>
                                        <p:attrNameLst>
                                          <p:attrName>ppt_x</p:attrName>
                                        </p:attrNameLst>
                                      </p:cBhvr>
                                      <p:tavLst>
                                        <p:tav tm="0">
                                          <p:val>
                                            <p:strVal val="#ppt_x"/>
                                          </p:val>
                                        </p:tav>
                                        <p:tav tm="100000">
                                          <p:val>
                                            <p:strVal val="#ppt_x"/>
                                          </p:val>
                                        </p:tav>
                                      </p:tavLst>
                                    </p:anim>
                                    <p:anim calcmode="lin" valueType="num">
                                      <p:cBhvr>
                                        <p:cTn id="3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1000"/>
                                        <p:tgtEl>
                                          <p:spTgt spid="8"/>
                                        </p:tgtEl>
                                      </p:cBhvr>
                                    </p:animEffect>
                                    <p:anim calcmode="lin" valueType="num">
                                      <p:cBhvr>
                                        <p:cTn id="37" dur="1000" fill="hold"/>
                                        <p:tgtEl>
                                          <p:spTgt spid="8"/>
                                        </p:tgtEl>
                                        <p:attrNameLst>
                                          <p:attrName>ppt_x</p:attrName>
                                        </p:attrNameLst>
                                      </p:cBhvr>
                                      <p:tavLst>
                                        <p:tav tm="0">
                                          <p:val>
                                            <p:strVal val="#ppt_x"/>
                                          </p:val>
                                        </p:tav>
                                        <p:tav tm="100000">
                                          <p:val>
                                            <p:strVal val="#ppt_x"/>
                                          </p:val>
                                        </p:tav>
                                      </p:tavLst>
                                    </p:anim>
                                    <p:anim calcmode="lin" valueType="num">
                                      <p:cBhvr>
                                        <p:cTn id="3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000"/>
                                        <p:tgtEl>
                                          <p:spTgt spid="12"/>
                                        </p:tgtEl>
                                      </p:cBhvr>
                                    </p:animEffect>
                                    <p:anim calcmode="lin" valueType="num">
                                      <p:cBhvr>
                                        <p:cTn id="54" dur="1000" fill="hold"/>
                                        <p:tgtEl>
                                          <p:spTgt spid="12"/>
                                        </p:tgtEl>
                                        <p:attrNameLst>
                                          <p:attrName>ppt_x</p:attrName>
                                        </p:attrNameLst>
                                      </p:cBhvr>
                                      <p:tavLst>
                                        <p:tav tm="0">
                                          <p:val>
                                            <p:strVal val="#ppt_x"/>
                                          </p:val>
                                        </p:tav>
                                        <p:tav tm="100000">
                                          <p:val>
                                            <p:strVal val="#ppt_x"/>
                                          </p:val>
                                        </p:tav>
                                      </p:tavLst>
                                    </p:anim>
                                    <p:anim calcmode="lin" valueType="num">
                                      <p:cBhvr>
                                        <p:cTn id="55" dur="1000" fill="hold"/>
                                        <p:tgtEl>
                                          <p:spTgt spid="12"/>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1000"/>
                                        <p:tgtEl>
                                          <p:spTgt spid="10"/>
                                        </p:tgtEl>
                                      </p:cBhvr>
                                    </p:animEffect>
                                    <p:anim calcmode="lin" valueType="num">
                                      <p:cBhvr>
                                        <p:cTn id="59" dur="1000" fill="hold"/>
                                        <p:tgtEl>
                                          <p:spTgt spid="10"/>
                                        </p:tgtEl>
                                        <p:attrNameLst>
                                          <p:attrName>ppt_x</p:attrName>
                                        </p:attrNameLst>
                                      </p:cBhvr>
                                      <p:tavLst>
                                        <p:tav tm="0">
                                          <p:val>
                                            <p:strVal val="#ppt_x"/>
                                          </p:val>
                                        </p:tav>
                                        <p:tav tm="100000">
                                          <p:val>
                                            <p:strVal val="#ppt_x"/>
                                          </p:val>
                                        </p:tav>
                                      </p:tavLst>
                                    </p:anim>
                                    <p:anim calcmode="lin" valueType="num">
                                      <p:cBhvr>
                                        <p:cTn id="60" dur="1000" fill="hold"/>
                                        <p:tgtEl>
                                          <p:spTgt spid="10"/>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1000"/>
                                        <p:tgtEl>
                                          <p:spTgt spid="15"/>
                                        </p:tgtEl>
                                      </p:cBhvr>
                                    </p:animEffect>
                                    <p:anim calcmode="lin" valueType="num">
                                      <p:cBhvr>
                                        <p:cTn id="71" dur="1000" fill="hold"/>
                                        <p:tgtEl>
                                          <p:spTgt spid="15"/>
                                        </p:tgtEl>
                                        <p:attrNameLst>
                                          <p:attrName>ppt_x</p:attrName>
                                        </p:attrNameLst>
                                      </p:cBhvr>
                                      <p:tavLst>
                                        <p:tav tm="0">
                                          <p:val>
                                            <p:strVal val="#ppt_x"/>
                                          </p:val>
                                        </p:tav>
                                        <p:tav tm="100000">
                                          <p:val>
                                            <p:strVal val="#ppt_x"/>
                                          </p:val>
                                        </p:tav>
                                      </p:tavLst>
                                    </p:anim>
                                    <p:anim calcmode="lin" valueType="num">
                                      <p:cBhvr>
                                        <p:cTn id="72" dur="1000" fill="hold"/>
                                        <p:tgtEl>
                                          <p:spTgt spid="15"/>
                                        </p:tgtEl>
                                        <p:attrNameLst>
                                          <p:attrName>ppt_y</p:attrName>
                                        </p:attrNameLst>
                                      </p:cBhvr>
                                      <p:tavLst>
                                        <p:tav tm="0">
                                          <p:val>
                                            <p:strVal val="#ppt_y+.1"/>
                                          </p:val>
                                        </p:tav>
                                        <p:tav tm="100000">
                                          <p:val>
                                            <p:strVal val="#ppt_y"/>
                                          </p:val>
                                        </p:tav>
                                      </p:tavLst>
                                    </p:anim>
                                  </p:childTnLst>
                                </p:cTn>
                              </p:par>
                              <p:par>
                                <p:cTn id="73" presetID="42" presetClass="entr" presetSubtype="0" fill="hold" nodeType="withEffect">
                                  <p:stCondLst>
                                    <p:cond delay="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1000"/>
                                        <p:tgtEl>
                                          <p:spTgt spid="16"/>
                                        </p:tgtEl>
                                      </p:cBhvr>
                                    </p:animEffect>
                                    <p:anim calcmode="lin" valueType="num">
                                      <p:cBhvr>
                                        <p:cTn id="76" dur="1000" fill="hold"/>
                                        <p:tgtEl>
                                          <p:spTgt spid="16"/>
                                        </p:tgtEl>
                                        <p:attrNameLst>
                                          <p:attrName>ppt_x</p:attrName>
                                        </p:attrNameLst>
                                      </p:cBhvr>
                                      <p:tavLst>
                                        <p:tav tm="0">
                                          <p:val>
                                            <p:strVal val="#ppt_x"/>
                                          </p:val>
                                        </p:tav>
                                        <p:tav tm="100000">
                                          <p:val>
                                            <p:strVal val="#ppt_x"/>
                                          </p:val>
                                        </p:tav>
                                      </p:tavLst>
                                    </p:anim>
                                    <p:anim calcmode="lin" valueType="num">
                                      <p:cBhvr>
                                        <p:cTn id="77" dur="1000" fill="hold"/>
                                        <p:tgtEl>
                                          <p:spTgt spid="16"/>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1000"/>
                                        <p:tgtEl>
                                          <p:spTgt spid="17"/>
                                        </p:tgtEl>
                                      </p:cBhvr>
                                    </p:animEffect>
                                    <p:anim calcmode="lin" valueType="num">
                                      <p:cBhvr>
                                        <p:cTn id="81" dur="1000" fill="hold"/>
                                        <p:tgtEl>
                                          <p:spTgt spid="17"/>
                                        </p:tgtEl>
                                        <p:attrNameLst>
                                          <p:attrName>ppt_x</p:attrName>
                                        </p:attrNameLst>
                                      </p:cBhvr>
                                      <p:tavLst>
                                        <p:tav tm="0">
                                          <p:val>
                                            <p:strVal val="#ppt_x"/>
                                          </p:val>
                                        </p:tav>
                                        <p:tav tm="100000">
                                          <p:val>
                                            <p:strVal val="#ppt_x"/>
                                          </p:val>
                                        </p:tav>
                                      </p:tavLst>
                                    </p:anim>
                                    <p:anim calcmode="lin" valueType="num">
                                      <p:cBhvr>
                                        <p:cTn id="82" dur="1000" fill="hold"/>
                                        <p:tgtEl>
                                          <p:spTgt spid="1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1000"/>
                                        <p:tgtEl>
                                          <p:spTgt spid="18"/>
                                        </p:tgtEl>
                                      </p:cBhvr>
                                    </p:animEffect>
                                    <p:anim calcmode="lin" valueType="num">
                                      <p:cBhvr>
                                        <p:cTn id="86" dur="1000" fill="hold"/>
                                        <p:tgtEl>
                                          <p:spTgt spid="18"/>
                                        </p:tgtEl>
                                        <p:attrNameLst>
                                          <p:attrName>ppt_x</p:attrName>
                                        </p:attrNameLst>
                                      </p:cBhvr>
                                      <p:tavLst>
                                        <p:tav tm="0">
                                          <p:val>
                                            <p:strVal val="#ppt_x"/>
                                          </p:val>
                                        </p:tav>
                                        <p:tav tm="100000">
                                          <p:val>
                                            <p:strVal val="#ppt_x"/>
                                          </p:val>
                                        </p:tav>
                                      </p:tavLst>
                                    </p:anim>
                                    <p:anim calcmode="lin" valueType="num">
                                      <p:cBhvr>
                                        <p:cTn id="87" dur="1000" fill="hold"/>
                                        <p:tgtEl>
                                          <p:spTgt spid="18"/>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4"/>
                                        </p:tgtEl>
                                        <p:attrNameLst>
                                          <p:attrName>style.visibility</p:attrName>
                                        </p:attrNameLst>
                                      </p:cBhvr>
                                      <p:to>
                                        <p:strVal val="visible"/>
                                      </p:to>
                                    </p:set>
                                    <p:animEffect transition="in" filter="fade">
                                      <p:cBhvr>
                                        <p:cTn id="90" dur="1000"/>
                                        <p:tgtEl>
                                          <p:spTgt spid="14"/>
                                        </p:tgtEl>
                                      </p:cBhvr>
                                    </p:animEffect>
                                    <p:anim calcmode="lin" valueType="num">
                                      <p:cBhvr>
                                        <p:cTn id="91" dur="1000" fill="hold"/>
                                        <p:tgtEl>
                                          <p:spTgt spid="14"/>
                                        </p:tgtEl>
                                        <p:attrNameLst>
                                          <p:attrName>ppt_x</p:attrName>
                                        </p:attrNameLst>
                                      </p:cBhvr>
                                      <p:tavLst>
                                        <p:tav tm="0">
                                          <p:val>
                                            <p:strVal val="#ppt_x"/>
                                          </p:val>
                                        </p:tav>
                                        <p:tav tm="100000">
                                          <p:val>
                                            <p:strVal val="#ppt_x"/>
                                          </p:val>
                                        </p:tav>
                                      </p:tavLst>
                                    </p:anim>
                                    <p:anim calcmode="lin" valueType="num">
                                      <p:cBhvr>
                                        <p:cTn id="9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1000"/>
                                        <p:tgtEl>
                                          <p:spTgt spid="22"/>
                                        </p:tgtEl>
                                      </p:cBhvr>
                                    </p:animEffect>
                                    <p:anim calcmode="lin" valueType="num">
                                      <p:cBhvr>
                                        <p:cTn id="98" dur="1000" fill="hold"/>
                                        <p:tgtEl>
                                          <p:spTgt spid="22"/>
                                        </p:tgtEl>
                                        <p:attrNameLst>
                                          <p:attrName>ppt_x</p:attrName>
                                        </p:attrNameLst>
                                      </p:cBhvr>
                                      <p:tavLst>
                                        <p:tav tm="0">
                                          <p:val>
                                            <p:strVal val="#ppt_x"/>
                                          </p:val>
                                        </p:tav>
                                        <p:tav tm="100000">
                                          <p:val>
                                            <p:strVal val="#ppt_x"/>
                                          </p:val>
                                        </p:tav>
                                      </p:tavLst>
                                    </p:anim>
                                    <p:anim calcmode="lin" valueType="num">
                                      <p:cBhvr>
                                        <p:cTn id="99" dur="1000" fill="hold"/>
                                        <p:tgtEl>
                                          <p:spTgt spid="22"/>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23"/>
                                        </p:tgtEl>
                                        <p:attrNameLst>
                                          <p:attrName>style.visibility</p:attrName>
                                        </p:attrNameLst>
                                      </p:cBhvr>
                                      <p:to>
                                        <p:strVal val="visible"/>
                                      </p:to>
                                    </p:set>
                                    <p:animEffect transition="in" filter="fade">
                                      <p:cBhvr>
                                        <p:cTn id="102" dur="1000"/>
                                        <p:tgtEl>
                                          <p:spTgt spid="23"/>
                                        </p:tgtEl>
                                      </p:cBhvr>
                                    </p:animEffect>
                                    <p:anim calcmode="lin" valueType="num">
                                      <p:cBhvr>
                                        <p:cTn id="103" dur="1000" fill="hold"/>
                                        <p:tgtEl>
                                          <p:spTgt spid="23"/>
                                        </p:tgtEl>
                                        <p:attrNameLst>
                                          <p:attrName>ppt_x</p:attrName>
                                        </p:attrNameLst>
                                      </p:cBhvr>
                                      <p:tavLst>
                                        <p:tav tm="0">
                                          <p:val>
                                            <p:strVal val="#ppt_x"/>
                                          </p:val>
                                        </p:tav>
                                        <p:tav tm="100000">
                                          <p:val>
                                            <p:strVal val="#ppt_x"/>
                                          </p:val>
                                        </p:tav>
                                      </p:tavLst>
                                    </p:anim>
                                    <p:anim calcmode="lin" valueType="num">
                                      <p:cBhvr>
                                        <p:cTn id="104" dur="1000" fill="hold"/>
                                        <p:tgtEl>
                                          <p:spTgt spid="23"/>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20"/>
                                        </p:tgtEl>
                                        <p:attrNameLst>
                                          <p:attrName>style.visibility</p:attrName>
                                        </p:attrNameLst>
                                      </p:cBhvr>
                                      <p:to>
                                        <p:strVal val="visible"/>
                                      </p:to>
                                    </p:set>
                                    <p:animEffect transition="in" filter="fade">
                                      <p:cBhvr>
                                        <p:cTn id="107" dur="1000"/>
                                        <p:tgtEl>
                                          <p:spTgt spid="20"/>
                                        </p:tgtEl>
                                      </p:cBhvr>
                                    </p:animEffect>
                                    <p:anim calcmode="lin" valueType="num">
                                      <p:cBhvr>
                                        <p:cTn id="108" dur="1000" fill="hold"/>
                                        <p:tgtEl>
                                          <p:spTgt spid="20"/>
                                        </p:tgtEl>
                                        <p:attrNameLst>
                                          <p:attrName>ppt_x</p:attrName>
                                        </p:attrNameLst>
                                      </p:cBhvr>
                                      <p:tavLst>
                                        <p:tav tm="0">
                                          <p:val>
                                            <p:strVal val="#ppt_x"/>
                                          </p:val>
                                        </p:tav>
                                        <p:tav tm="100000">
                                          <p:val>
                                            <p:strVal val="#ppt_x"/>
                                          </p:val>
                                        </p:tav>
                                      </p:tavLst>
                                    </p:anim>
                                    <p:anim calcmode="lin" valueType="num">
                                      <p:cBhvr>
                                        <p:cTn id="109" dur="1000" fill="hold"/>
                                        <p:tgtEl>
                                          <p:spTgt spid="20"/>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21"/>
                                        </p:tgtEl>
                                        <p:attrNameLst>
                                          <p:attrName>style.visibility</p:attrName>
                                        </p:attrNameLst>
                                      </p:cBhvr>
                                      <p:to>
                                        <p:strVal val="visible"/>
                                      </p:to>
                                    </p:set>
                                    <p:animEffect transition="in" filter="fade">
                                      <p:cBhvr>
                                        <p:cTn id="112" dur="1000"/>
                                        <p:tgtEl>
                                          <p:spTgt spid="21"/>
                                        </p:tgtEl>
                                      </p:cBhvr>
                                    </p:animEffect>
                                    <p:anim calcmode="lin" valueType="num">
                                      <p:cBhvr>
                                        <p:cTn id="113" dur="1000" fill="hold"/>
                                        <p:tgtEl>
                                          <p:spTgt spid="21"/>
                                        </p:tgtEl>
                                        <p:attrNameLst>
                                          <p:attrName>ppt_x</p:attrName>
                                        </p:attrNameLst>
                                      </p:cBhvr>
                                      <p:tavLst>
                                        <p:tav tm="0">
                                          <p:val>
                                            <p:strVal val="#ppt_x"/>
                                          </p:val>
                                        </p:tav>
                                        <p:tav tm="100000">
                                          <p:val>
                                            <p:strVal val="#ppt_x"/>
                                          </p:val>
                                        </p:tav>
                                      </p:tavLst>
                                    </p:anim>
                                    <p:anim calcmode="lin" valueType="num">
                                      <p:cBhvr>
                                        <p:cTn id="114" dur="1000" fill="hold"/>
                                        <p:tgtEl>
                                          <p:spTgt spid="21"/>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19"/>
                                        </p:tgtEl>
                                        <p:attrNameLst>
                                          <p:attrName>style.visibility</p:attrName>
                                        </p:attrNameLst>
                                      </p:cBhvr>
                                      <p:to>
                                        <p:strVal val="visible"/>
                                      </p:to>
                                    </p:set>
                                    <p:animEffect transition="in" filter="fade">
                                      <p:cBhvr>
                                        <p:cTn id="117" dur="1000"/>
                                        <p:tgtEl>
                                          <p:spTgt spid="19"/>
                                        </p:tgtEl>
                                      </p:cBhvr>
                                    </p:animEffect>
                                    <p:anim calcmode="lin" valueType="num">
                                      <p:cBhvr>
                                        <p:cTn id="118" dur="1000" fill="hold"/>
                                        <p:tgtEl>
                                          <p:spTgt spid="19"/>
                                        </p:tgtEl>
                                        <p:attrNameLst>
                                          <p:attrName>ppt_x</p:attrName>
                                        </p:attrNameLst>
                                      </p:cBhvr>
                                      <p:tavLst>
                                        <p:tav tm="0">
                                          <p:val>
                                            <p:strVal val="#ppt_x"/>
                                          </p:val>
                                        </p:tav>
                                        <p:tav tm="100000">
                                          <p:val>
                                            <p:strVal val="#ppt_x"/>
                                          </p:val>
                                        </p:tav>
                                      </p:tavLst>
                                    </p:anim>
                                    <p:anim calcmode="lin" valueType="num">
                                      <p:cBhvr>
                                        <p:cTn id="119"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2" grpId="0" animBg="1"/>
      <p:bldP spid="13" grpId="0" animBg="1"/>
      <p:bldP spid="14" grpId="0" animBg="1"/>
      <p:bldP spid="17" grpId="0" animBg="1"/>
      <p:bldP spid="18" grpId="0" animBg="1"/>
      <p:bldP spid="19" grpId="0" animBg="1"/>
      <p:bldP spid="22" grpId="0" animBg="1"/>
      <p:bldP spid="2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7110" y="617101"/>
            <a:ext cx="9532620" cy="645914"/>
          </a:xfrm>
          <a:prstGeom prst="rect">
            <a:avLst/>
          </a:prstGeom>
          <a:noFill/>
          <a:ln/>
        </p:spPr>
        <p:txBody>
          <a:bodyPr wrap="none" lIns="0" tIns="0" rIns="0" bIns="0" rtlCol="0" anchor="t"/>
          <a:lstStyle/>
          <a:p>
            <a:pPr marL="0" indent="0" algn="l">
              <a:lnSpc>
                <a:spcPts val="5050"/>
              </a:lnSpc>
              <a:buNone/>
            </a:pPr>
            <a:r>
              <a:rPr lang="en-US" sz="4050" b="1" dirty="0">
                <a:solidFill>
                  <a:srgbClr val="2E3C4E"/>
                </a:solidFill>
                <a:latin typeface="Barlow Bold" pitchFamily="34" charset="0"/>
                <a:ea typeface="Barlow Bold" pitchFamily="34" charset="-122"/>
                <a:cs typeface="Barlow Bold" pitchFamily="34" charset="-120"/>
              </a:rPr>
              <a:t>Expanding Our Reach: Activities &amp; Impact</a:t>
            </a:r>
            <a:endParaRPr lang="en-US" sz="4050" dirty="0"/>
          </a:p>
        </p:txBody>
      </p:sp>
      <p:sp>
        <p:nvSpPr>
          <p:cNvPr id="3" name="Text 1"/>
          <p:cNvSpPr/>
          <p:nvPr/>
        </p:nvSpPr>
        <p:spPr>
          <a:xfrm>
            <a:off x="687110" y="1618893"/>
            <a:ext cx="13256181" cy="598646"/>
          </a:xfrm>
          <a:prstGeom prst="rect">
            <a:avLst/>
          </a:prstGeom>
          <a:noFill/>
          <a:ln/>
        </p:spPr>
        <p:txBody>
          <a:bodyPr wrap="square" lIns="0" tIns="0" rIns="0" bIns="0" rtlCol="0" anchor="t"/>
          <a:lstStyle/>
          <a:p>
            <a:pPr marL="0" indent="0" algn="l">
              <a:lnSpc>
                <a:spcPts val="2350"/>
              </a:lnSpc>
              <a:buNone/>
            </a:pPr>
            <a:r>
              <a:rPr lang="en-US" sz="1500" dirty="0">
                <a:solidFill>
                  <a:srgbClr val="384653"/>
                </a:solidFill>
                <a:latin typeface="Montserrat" pitchFamily="34" charset="0"/>
                <a:ea typeface="Montserrat" pitchFamily="34" charset="-122"/>
                <a:cs typeface="Montserrat" pitchFamily="34" charset="-120"/>
              </a:rPr>
              <a:t>From local initiatives to national programs, a diverse range of activities are underway to achieve SDG 6. These efforts combine infrastructure development with crucial community engagement and education.</a:t>
            </a:r>
            <a:endParaRPr lang="en-US" sz="1500" dirty="0"/>
          </a:p>
        </p:txBody>
      </p:sp>
      <p:pic>
        <p:nvPicPr>
          <p:cNvPr id="4" name="Image 0" descr="preencoded.png"/>
          <p:cNvPicPr>
            <a:picLocks noChangeAspect="1"/>
          </p:cNvPicPr>
          <p:nvPr/>
        </p:nvPicPr>
        <p:blipFill>
          <a:blip r:embed="rId3"/>
          <a:stretch>
            <a:fillRect/>
          </a:stretch>
        </p:blipFill>
        <p:spPr>
          <a:xfrm>
            <a:off x="687110" y="2417683"/>
            <a:ext cx="1825347" cy="1825347"/>
          </a:xfrm>
          <a:prstGeom prst="rect">
            <a:avLst/>
          </a:prstGeom>
        </p:spPr>
      </p:pic>
      <p:sp>
        <p:nvSpPr>
          <p:cNvPr id="5" name="Text 2"/>
          <p:cNvSpPr/>
          <p:nvPr/>
        </p:nvSpPr>
        <p:spPr>
          <a:xfrm>
            <a:off x="687110" y="4465439"/>
            <a:ext cx="3147179" cy="645795"/>
          </a:xfrm>
          <a:prstGeom prst="rect">
            <a:avLst/>
          </a:prstGeom>
          <a:noFill/>
          <a:ln/>
        </p:spPr>
        <p:txBody>
          <a:bodyPr wrap="square" lIns="0" tIns="0" rIns="0" bIns="0" rtlCol="0" anchor="t"/>
          <a:lstStyle/>
          <a:p>
            <a:pPr marL="0" indent="0" algn="l">
              <a:lnSpc>
                <a:spcPts val="2500"/>
              </a:lnSpc>
              <a:buNone/>
            </a:pPr>
            <a:r>
              <a:rPr lang="en-US" sz="2000" b="1" dirty="0">
                <a:solidFill>
                  <a:srgbClr val="384653"/>
                </a:solidFill>
                <a:latin typeface="Barlow Bold" pitchFamily="34" charset="0"/>
                <a:ea typeface="Barlow Bold" pitchFamily="34" charset="-122"/>
                <a:cs typeface="Barlow Bold" pitchFamily="34" charset="-120"/>
              </a:rPr>
              <a:t>Community Water Management</a:t>
            </a:r>
            <a:endParaRPr lang="en-US" sz="2000" dirty="0"/>
          </a:p>
        </p:txBody>
      </p:sp>
      <p:sp>
        <p:nvSpPr>
          <p:cNvPr id="6" name="Text 3"/>
          <p:cNvSpPr/>
          <p:nvPr/>
        </p:nvSpPr>
        <p:spPr>
          <a:xfrm>
            <a:off x="687110" y="5217914"/>
            <a:ext cx="3147179" cy="2394585"/>
          </a:xfrm>
          <a:prstGeom prst="rect">
            <a:avLst/>
          </a:prstGeom>
          <a:noFill/>
          <a:ln/>
        </p:spPr>
        <p:txBody>
          <a:bodyPr wrap="square" lIns="0" tIns="0" rIns="0" bIns="0" rtlCol="0" anchor="t"/>
          <a:lstStyle/>
          <a:p>
            <a:pPr marL="0" indent="0" algn="just">
              <a:lnSpc>
                <a:spcPts val="2350"/>
              </a:lnSpc>
              <a:buNone/>
            </a:pPr>
            <a:r>
              <a:rPr lang="en-US" sz="1500" dirty="0">
                <a:solidFill>
                  <a:srgbClr val="384653"/>
                </a:solidFill>
                <a:latin typeface="Montserrat" pitchFamily="34" charset="0"/>
                <a:ea typeface="Montserrat" pitchFamily="34" charset="-122"/>
                <a:cs typeface="Montserrat" pitchFamily="34" charset="-120"/>
              </a:rPr>
              <a:t>Empowering local populations to manage and maintain their water sources, ensuring long-term sustainability and ownership. These projects often lead to significant reductions in waterborne diseases in participating communities.</a:t>
            </a:r>
            <a:endParaRPr lang="en-US" sz="1500" dirty="0"/>
          </a:p>
        </p:txBody>
      </p:sp>
      <p:pic>
        <p:nvPicPr>
          <p:cNvPr id="7" name="Image 1" descr="preencoded.png"/>
          <p:cNvPicPr>
            <a:picLocks noChangeAspect="1"/>
          </p:cNvPicPr>
          <p:nvPr/>
        </p:nvPicPr>
        <p:blipFill>
          <a:blip r:embed="rId4"/>
          <a:stretch>
            <a:fillRect/>
          </a:stretch>
        </p:blipFill>
        <p:spPr>
          <a:xfrm>
            <a:off x="4056698" y="2417683"/>
            <a:ext cx="1825347" cy="1825347"/>
          </a:xfrm>
          <a:prstGeom prst="rect">
            <a:avLst/>
          </a:prstGeom>
        </p:spPr>
      </p:pic>
      <p:sp>
        <p:nvSpPr>
          <p:cNvPr id="8" name="Text 4"/>
          <p:cNvSpPr/>
          <p:nvPr/>
        </p:nvSpPr>
        <p:spPr>
          <a:xfrm>
            <a:off x="4056698" y="4465439"/>
            <a:ext cx="3147298" cy="645795"/>
          </a:xfrm>
          <a:prstGeom prst="rect">
            <a:avLst/>
          </a:prstGeom>
          <a:noFill/>
          <a:ln/>
        </p:spPr>
        <p:txBody>
          <a:bodyPr wrap="square" lIns="0" tIns="0" rIns="0" bIns="0" rtlCol="0" anchor="t"/>
          <a:lstStyle/>
          <a:p>
            <a:pPr marL="0" indent="0" algn="l">
              <a:lnSpc>
                <a:spcPts val="2500"/>
              </a:lnSpc>
              <a:buNone/>
            </a:pPr>
            <a:r>
              <a:rPr lang="en-US" sz="2000" b="1" dirty="0">
                <a:solidFill>
                  <a:srgbClr val="384653"/>
                </a:solidFill>
                <a:latin typeface="Barlow Bold" pitchFamily="34" charset="0"/>
                <a:ea typeface="Barlow Bold" pitchFamily="34" charset="-122"/>
                <a:cs typeface="Barlow Bold" pitchFamily="34" charset="-120"/>
              </a:rPr>
              <a:t>Government Sanitation Schemes</a:t>
            </a:r>
            <a:endParaRPr lang="en-US" sz="2000" dirty="0"/>
          </a:p>
        </p:txBody>
      </p:sp>
      <p:sp>
        <p:nvSpPr>
          <p:cNvPr id="9" name="Text 5"/>
          <p:cNvSpPr/>
          <p:nvPr/>
        </p:nvSpPr>
        <p:spPr>
          <a:xfrm>
            <a:off x="4056698" y="5217914"/>
            <a:ext cx="3147298" cy="2394585"/>
          </a:xfrm>
          <a:prstGeom prst="rect">
            <a:avLst/>
          </a:prstGeom>
          <a:noFill/>
          <a:ln/>
        </p:spPr>
        <p:txBody>
          <a:bodyPr wrap="square" lIns="0" tIns="0" rIns="0" bIns="0" rtlCol="0" anchor="t"/>
          <a:lstStyle/>
          <a:p>
            <a:pPr marL="0" indent="0" algn="just">
              <a:lnSpc>
                <a:spcPts val="2350"/>
              </a:lnSpc>
              <a:buNone/>
            </a:pPr>
            <a:r>
              <a:rPr lang="en-US" sz="1500" dirty="0">
                <a:solidFill>
                  <a:srgbClr val="384653"/>
                </a:solidFill>
                <a:latin typeface="Montserrat" pitchFamily="34" charset="0"/>
                <a:ea typeface="Montserrat" pitchFamily="34" charset="-122"/>
                <a:cs typeface="Montserrat" pitchFamily="34" charset="-120"/>
              </a:rPr>
              <a:t>National programs like India's Swachh Bharat Abhiyan have supported the construction of over </a:t>
            </a:r>
            <a:r>
              <a:rPr lang="en-US" sz="1500" b="1" dirty="0">
                <a:solidFill>
                  <a:srgbClr val="384653"/>
                </a:solidFill>
                <a:latin typeface="Montserrat" pitchFamily="34" charset="0"/>
                <a:ea typeface="Montserrat" pitchFamily="34" charset="-122"/>
                <a:cs typeface="Montserrat" pitchFamily="34" charset="-120"/>
              </a:rPr>
              <a:t>100 million</a:t>
            </a:r>
            <a:r>
              <a:rPr lang="en-US" sz="1500" dirty="0">
                <a:solidFill>
                  <a:srgbClr val="384653"/>
                </a:solidFill>
                <a:latin typeface="Montserrat" pitchFamily="34" charset="0"/>
                <a:ea typeface="Montserrat" pitchFamily="34" charset="-122"/>
                <a:cs typeface="Montserrat" pitchFamily="34" charset="-120"/>
              </a:rPr>
              <a:t> household toilets, drastically reducing open defecation and improving public health for hundreds of millions.</a:t>
            </a:r>
            <a:endParaRPr lang="en-US" sz="1500" dirty="0"/>
          </a:p>
        </p:txBody>
      </p:sp>
      <p:pic>
        <p:nvPicPr>
          <p:cNvPr id="10" name="Image 2" descr="preencoded.png"/>
          <p:cNvPicPr>
            <a:picLocks noChangeAspect="1"/>
          </p:cNvPicPr>
          <p:nvPr/>
        </p:nvPicPr>
        <p:blipFill>
          <a:blip r:embed="rId5"/>
          <a:stretch>
            <a:fillRect/>
          </a:stretch>
        </p:blipFill>
        <p:spPr>
          <a:xfrm>
            <a:off x="7426404" y="2417683"/>
            <a:ext cx="1825347" cy="1825347"/>
          </a:xfrm>
          <a:prstGeom prst="rect">
            <a:avLst/>
          </a:prstGeom>
        </p:spPr>
      </p:pic>
      <p:sp>
        <p:nvSpPr>
          <p:cNvPr id="11" name="Text 6"/>
          <p:cNvSpPr/>
          <p:nvPr/>
        </p:nvSpPr>
        <p:spPr>
          <a:xfrm>
            <a:off x="7426404" y="4465439"/>
            <a:ext cx="3147179" cy="645795"/>
          </a:xfrm>
          <a:prstGeom prst="rect">
            <a:avLst/>
          </a:prstGeom>
          <a:noFill/>
          <a:ln/>
        </p:spPr>
        <p:txBody>
          <a:bodyPr wrap="square" lIns="0" tIns="0" rIns="0" bIns="0" rtlCol="0" anchor="t"/>
          <a:lstStyle/>
          <a:p>
            <a:pPr marL="0" indent="0" algn="l">
              <a:lnSpc>
                <a:spcPts val="2500"/>
              </a:lnSpc>
              <a:buNone/>
            </a:pPr>
            <a:r>
              <a:rPr lang="en-US" sz="2000" b="1" dirty="0">
                <a:solidFill>
                  <a:srgbClr val="384653"/>
                </a:solidFill>
                <a:latin typeface="Barlow Bold" pitchFamily="34" charset="0"/>
                <a:ea typeface="Barlow Bold" pitchFamily="34" charset="-122"/>
                <a:cs typeface="Barlow Bold" pitchFamily="34" charset="-120"/>
              </a:rPr>
              <a:t>Hygiene Education Initiatives</a:t>
            </a:r>
            <a:endParaRPr lang="en-US" sz="2000" dirty="0"/>
          </a:p>
        </p:txBody>
      </p:sp>
      <p:sp>
        <p:nvSpPr>
          <p:cNvPr id="12" name="Text 7"/>
          <p:cNvSpPr/>
          <p:nvPr/>
        </p:nvSpPr>
        <p:spPr>
          <a:xfrm>
            <a:off x="7426404" y="5217914"/>
            <a:ext cx="3147179" cy="2095262"/>
          </a:xfrm>
          <a:prstGeom prst="rect">
            <a:avLst/>
          </a:prstGeom>
          <a:noFill/>
          <a:ln/>
        </p:spPr>
        <p:txBody>
          <a:bodyPr wrap="square" lIns="0" tIns="0" rIns="0" bIns="0" rtlCol="0" anchor="t"/>
          <a:lstStyle/>
          <a:p>
            <a:pPr marL="0" indent="0" algn="just">
              <a:lnSpc>
                <a:spcPts val="2350"/>
              </a:lnSpc>
              <a:buNone/>
            </a:pPr>
            <a:r>
              <a:rPr lang="en-US" sz="1500" dirty="0">
                <a:solidFill>
                  <a:srgbClr val="384653"/>
                </a:solidFill>
                <a:latin typeface="Montserrat" pitchFamily="34" charset="0"/>
                <a:ea typeface="Montserrat" pitchFamily="34" charset="-122"/>
                <a:cs typeface="Montserrat" pitchFamily="34" charset="-120"/>
              </a:rPr>
              <a:t>School-based and community-wide campaigns promote critical hygiene behaviors, such as handwashing and safe water storage, reaching an estimated </a:t>
            </a:r>
            <a:r>
              <a:rPr lang="en-US" sz="1500" b="1" dirty="0">
                <a:solidFill>
                  <a:srgbClr val="384653"/>
                </a:solidFill>
                <a:latin typeface="Montserrat" pitchFamily="34" charset="0"/>
                <a:ea typeface="Montserrat" pitchFamily="34" charset="-122"/>
                <a:cs typeface="Montserrat" pitchFamily="34" charset="-120"/>
              </a:rPr>
              <a:t>50 million</a:t>
            </a:r>
            <a:r>
              <a:rPr lang="en-US" sz="1500" dirty="0">
                <a:solidFill>
                  <a:srgbClr val="384653"/>
                </a:solidFill>
                <a:latin typeface="Montserrat" pitchFamily="34" charset="0"/>
                <a:ea typeface="Montserrat" pitchFamily="34" charset="-122"/>
                <a:cs typeface="Montserrat" pitchFamily="34" charset="-120"/>
              </a:rPr>
              <a:t> individuals annually with vital health information.</a:t>
            </a:r>
            <a:endParaRPr lang="en-US" sz="1500" dirty="0"/>
          </a:p>
        </p:txBody>
      </p:sp>
      <p:pic>
        <p:nvPicPr>
          <p:cNvPr id="13" name="Image 3" descr="preencoded.png"/>
          <p:cNvPicPr>
            <a:picLocks noChangeAspect="1"/>
          </p:cNvPicPr>
          <p:nvPr/>
        </p:nvPicPr>
        <p:blipFill>
          <a:blip r:embed="rId6"/>
          <a:stretch>
            <a:fillRect/>
          </a:stretch>
        </p:blipFill>
        <p:spPr>
          <a:xfrm>
            <a:off x="10795992" y="2417683"/>
            <a:ext cx="1825347" cy="1825347"/>
          </a:xfrm>
          <a:prstGeom prst="rect">
            <a:avLst/>
          </a:prstGeom>
        </p:spPr>
      </p:pic>
      <p:sp>
        <p:nvSpPr>
          <p:cNvPr id="14" name="Text 8"/>
          <p:cNvSpPr/>
          <p:nvPr/>
        </p:nvSpPr>
        <p:spPr>
          <a:xfrm>
            <a:off x="10795992" y="4465439"/>
            <a:ext cx="3147298" cy="645795"/>
          </a:xfrm>
          <a:prstGeom prst="rect">
            <a:avLst/>
          </a:prstGeom>
          <a:noFill/>
          <a:ln/>
        </p:spPr>
        <p:txBody>
          <a:bodyPr wrap="square" lIns="0" tIns="0" rIns="0" bIns="0" rtlCol="0" anchor="t"/>
          <a:lstStyle/>
          <a:p>
            <a:pPr marL="0" indent="0" algn="l">
              <a:lnSpc>
                <a:spcPts val="2500"/>
              </a:lnSpc>
              <a:buNone/>
            </a:pPr>
            <a:r>
              <a:rPr lang="en-US" sz="2000" b="1" dirty="0">
                <a:solidFill>
                  <a:srgbClr val="384653"/>
                </a:solidFill>
                <a:latin typeface="Barlow Bold" pitchFamily="34" charset="0"/>
                <a:ea typeface="Barlow Bold" pitchFamily="34" charset="-122"/>
                <a:cs typeface="Barlow Bold" pitchFamily="34" charset="-120"/>
              </a:rPr>
              <a:t>Advanced Water Purification</a:t>
            </a:r>
            <a:endParaRPr lang="en-US" sz="2000" dirty="0"/>
          </a:p>
        </p:txBody>
      </p:sp>
      <p:sp>
        <p:nvSpPr>
          <p:cNvPr id="15" name="Text 9"/>
          <p:cNvSpPr/>
          <p:nvPr/>
        </p:nvSpPr>
        <p:spPr>
          <a:xfrm>
            <a:off x="10795992" y="5217914"/>
            <a:ext cx="3147298" cy="2394585"/>
          </a:xfrm>
          <a:prstGeom prst="rect">
            <a:avLst/>
          </a:prstGeom>
          <a:noFill/>
          <a:ln/>
        </p:spPr>
        <p:txBody>
          <a:bodyPr wrap="square" lIns="0" tIns="0" rIns="0" bIns="0" rtlCol="0" anchor="t"/>
          <a:lstStyle/>
          <a:p>
            <a:pPr marL="0" indent="0" algn="just">
              <a:lnSpc>
                <a:spcPts val="2350"/>
              </a:lnSpc>
              <a:buNone/>
            </a:pPr>
            <a:r>
              <a:rPr lang="en-US" sz="1500" dirty="0">
                <a:solidFill>
                  <a:srgbClr val="384653"/>
                </a:solidFill>
                <a:latin typeface="Montserrat" pitchFamily="34" charset="0"/>
                <a:ea typeface="Montserrat" pitchFamily="34" charset="-122"/>
                <a:cs typeface="Montserrat" pitchFamily="34" charset="-120"/>
              </a:rPr>
              <a:t>Deployment of modern water filtration and purification technologies in high-risk areas, providing access to safe drinking water for over </a:t>
            </a:r>
            <a:r>
              <a:rPr lang="en-US" sz="1500" b="1" dirty="0">
                <a:solidFill>
                  <a:srgbClr val="384653"/>
                </a:solidFill>
                <a:latin typeface="Montserrat" pitchFamily="34" charset="0"/>
                <a:ea typeface="Montserrat" pitchFamily="34" charset="-122"/>
                <a:cs typeface="Montserrat" pitchFamily="34" charset="-120"/>
              </a:rPr>
              <a:t>5 million</a:t>
            </a:r>
            <a:r>
              <a:rPr lang="en-US" sz="1500" dirty="0">
                <a:solidFill>
                  <a:srgbClr val="384653"/>
                </a:solidFill>
                <a:latin typeface="Montserrat" pitchFamily="34" charset="0"/>
                <a:ea typeface="Montserrat" pitchFamily="34" charset="-122"/>
                <a:cs typeface="Montserrat" pitchFamily="34" charset="-120"/>
              </a:rPr>
              <a:t> people previously exposed to contaminated sources.</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1000"/>
                                        <p:tgtEl>
                                          <p:spTgt spid="10"/>
                                        </p:tgtEl>
                                      </p:cBhvr>
                                    </p:animEffect>
                                    <p:anim calcmode="lin" valueType="num">
                                      <p:cBhvr>
                                        <p:cTn id="42" dur="1000" fill="hold"/>
                                        <p:tgtEl>
                                          <p:spTgt spid="10"/>
                                        </p:tgtEl>
                                        <p:attrNameLst>
                                          <p:attrName>ppt_x</p:attrName>
                                        </p:attrNameLst>
                                      </p:cBhvr>
                                      <p:tavLst>
                                        <p:tav tm="0">
                                          <p:val>
                                            <p:strVal val="#ppt_x"/>
                                          </p:val>
                                        </p:tav>
                                        <p:tav tm="100000">
                                          <p:val>
                                            <p:strVal val="#ppt_x"/>
                                          </p:val>
                                        </p:tav>
                                      </p:tavLst>
                                    </p:anim>
                                    <p:anim calcmode="lin" valueType="num">
                                      <p:cBhvr>
                                        <p:cTn id="43" dur="1000" fill="hold"/>
                                        <p:tgtEl>
                                          <p:spTgt spid="1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anim calcmode="lin" valueType="num">
                                      <p:cBhvr>
                                        <p:cTn id="47" dur="1000" fill="hold"/>
                                        <p:tgtEl>
                                          <p:spTgt spid="11"/>
                                        </p:tgtEl>
                                        <p:attrNameLst>
                                          <p:attrName>ppt_x</p:attrName>
                                        </p:attrNameLst>
                                      </p:cBhvr>
                                      <p:tavLst>
                                        <p:tav tm="0">
                                          <p:val>
                                            <p:strVal val="#ppt_x"/>
                                          </p:val>
                                        </p:tav>
                                        <p:tav tm="100000">
                                          <p:val>
                                            <p:strVal val="#ppt_x"/>
                                          </p:val>
                                        </p:tav>
                                      </p:tavLst>
                                    </p:anim>
                                    <p:anim calcmode="lin" valueType="num">
                                      <p:cBhvr>
                                        <p:cTn id="48" dur="1000" fill="hold"/>
                                        <p:tgtEl>
                                          <p:spTgt spid="11"/>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000"/>
                                        <p:tgtEl>
                                          <p:spTgt spid="13"/>
                                        </p:tgtEl>
                                      </p:cBhvr>
                                    </p:animEffect>
                                    <p:anim calcmode="lin" valueType="num">
                                      <p:cBhvr>
                                        <p:cTn id="59" dur="1000" fill="hold"/>
                                        <p:tgtEl>
                                          <p:spTgt spid="13"/>
                                        </p:tgtEl>
                                        <p:attrNameLst>
                                          <p:attrName>ppt_x</p:attrName>
                                        </p:attrNameLst>
                                      </p:cBhvr>
                                      <p:tavLst>
                                        <p:tav tm="0">
                                          <p:val>
                                            <p:strVal val="#ppt_x"/>
                                          </p:val>
                                        </p:tav>
                                        <p:tav tm="100000">
                                          <p:val>
                                            <p:strVal val="#ppt_x"/>
                                          </p:val>
                                        </p:tav>
                                      </p:tavLst>
                                    </p:anim>
                                    <p:anim calcmode="lin" valueType="num">
                                      <p:cBhvr>
                                        <p:cTn id="60" dur="1000" fill="hold"/>
                                        <p:tgtEl>
                                          <p:spTgt spid="13"/>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000"/>
                                        <p:tgtEl>
                                          <p:spTgt spid="14"/>
                                        </p:tgtEl>
                                      </p:cBhvr>
                                    </p:animEffect>
                                    <p:anim calcmode="lin" valueType="num">
                                      <p:cBhvr>
                                        <p:cTn id="64" dur="1000" fill="hold"/>
                                        <p:tgtEl>
                                          <p:spTgt spid="14"/>
                                        </p:tgtEl>
                                        <p:attrNameLst>
                                          <p:attrName>ppt_x</p:attrName>
                                        </p:attrNameLst>
                                      </p:cBhvr>
                                      <p:tavLst>
                                        <p:tav tm="0">
                                          <p:val>
                                            <p:strVal val="#ppt_x"/>
                                          </p:val>
                                        </p:tav>
                                        <p:tav tm="100000">
                                          <p:val>
                                            <p:strVal val="#ppt_x"/>
                                          </p:val>
                                        </p:tav>
                                      </p:tavLst>
                                    </p:anim>
                                    <p:anim calcmode="lin" valueType="num">
                                      <p:cBhvr>
                                        <p:cTn id="65" dur="1000" fill="hold"/>
                                        <p:tgtEl>
                                          <p:spTgt spid="14"/>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000"/>
                                        <p:tgtEl>
                                          <p:spTgt spid="15"/>
                                        </p:tgtEl>
                                      </p:cBhvr>
                                    </p:animEffect>
                                    <p:anim calcmode="lin" valueType="num">
                                      <p:cBhvr>
                                        <p:cTn id="69" dur="1000" fill="hold"/>
                                        <p:tgtEl>
                                          <p:spTgt spid="15"/>
                                        </p:tgtEl>
                                        <p:attrNameLst>
                                          <p:attrName>ppt_x</p:attrName>
                                        </p:attrNameLst>
                                      </p:cBhvr>
                                      <p:tavLst>
                                        <p:tav tm="0">
                                          <p:val>
                                            <p:strVal val="#ppt_x"/>
                                          </p:val>
                                        </p:tav>
                                        <p:tav tm="100000">
                                          <p:val>
                                            <p:strVal val="#ppt_x"/>
                                          </p:val>
                                        </p:tav>
                                      </p:tavLst>
                                    </p:anim>
                                    <p:anim calcmode="lin" valueType="num">
                                      <p:cBhvr>
                                        <p:cTn id="7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1" grpId="0" animBg="1"/>
      <p:bldP spid="12" grpId="0" animBg="1"/>
      <p:bldP spid="14"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1879283" y="2248257"/>
            <a:ext cx="10871835" cy="712708"/>
          </a:xfrm>
          <a:prstGeom prst="rect">
            <a:avLst/>
          </a:prstGeom>
          <a:noFill/>
          <a:ln/>
        </p:spPr>
        <p:txBody>
          <a:bodyPr wrap="none" lIns="0" tIns="0" rIns="0" bIns="0" rtlCol="0" anchor="t"/>
          <a:lstStyle/>
          <a:p>
            <a:pPr marL="0" indent="0" algn="ctr">
              <a:lnSpc>
                <a:spcPts val="5600"/>
              </a:lnSpc>
              <a:buNone/>
            </a:pPr>
            <a:r>
              <a:rPr lang="en-US" sz="4450" b="1" dirty="0">
                <a:solidFill>
                  <a:srgbClr val="2E3C4E"/>
                </a:solidFill>
                <a:latin typeface="Barlow Bold" pitchFamily="34" charset="0"/>
                <a:ea typeface="Barlow Bold" pitchFamily="34" charset="-122"/>
                <a:cs typeface="Barlow Bold" pitchFamily="34" charset="-120"/>
              </a:rPr>
              <a:t>Our  Responsibility: Achieving SDG 6</a:t>
            </a:r>
            <a:endParaRPr lang="en-US" sz="4450" dirty="0"/>
          </a:p>
        </p:txBody>
      </p:sp>
      <p:sp>
        <p:nvSpPr>
          <p:cNvPr id="3" name="Text 1"/>
          <p:cNvSpPr/>
          <p:nvPr/>
        </p:nvSpPr>
        <p:spPr>
          <a:xfrm>
            <a:off x="2927390" y="3285887"/>
            <a:ext cx="8775621" cy="983575"/>
          </a:xfrm>
          <a:prstGeom prst="rect">
            <a:avLst/>
          </a:prstGeom>
          <a:noFill/>
          <a:ln/>
        </p:spPr>
        <p:txBody>
          <a:bodyPr wrap="none" lIns="0" tIns="0" rIns="0" bIns="0" rtlCol="0" anchor="t"/>
          <a:lstStyle/>
          <a:p>
            <a:pPr marL="0" indent="0" algn="ctr">
              <a:lnSpc>
                <a:spcPts val="7700"/>
              </a:lnSpc>
              <a:buNone/>
            </a:pPr>
            <a:r>
              <a:rPr lang="en-US" sz="6150" b="1" dirty="0">
                <a:solidFill>
                  <a:srgbClr val="063E5F"/>
                </a:solidFill>
                <a:latin typeface="Barlow Bold" pitchFamily="34" charset="0"/>
                <a:ea typeface="Barlow Bold" pitchFamily="34" charset="-122"/>
                <a:cs typeface="Barlow Bold" pitchFamily="34" charset="-120"/>
              </a:rPr>
              <a:t>Water. Sanitation. For All.</a:t>
            </a:r>
            <a:endParaRPr lang="en-US" sz="6150" dirty="0"/>
          </a:p>
        </p:txBody>
      </p:sp>
      <p:sp>
        <p:nvSpPr>
          <p:cNvPr id="4" name="Text 2"/>
          <p:cNvSpPr/>
          <p:nvPr/>
        </p:nvSpPr>
        <p:spPr>
          <a:xfrm>
            <a:off x="758309" y="4594384"/>
            <a:ext cx="13113782" cy="1386840"/>
          </a:xfrm>
          <a:prstGeom prst="rect">
            <a:avLst/>
          </a:prstGeom>
          <a:noFill/>
          <a:ln/>
        </p:spPr>
        <p:txBody>
          <a:bodyPr wrap="square" lIns="0" tIns="0" rIns="0" bIns="0" rtlCol="0" anchor="t"/>
          <a:lstStyle/>
          <a:p>
            <a:pPr marL="0" indent="0" algn="just">
              <a:lnSpc>
                <a:spcPts val="2700"/>
              </a:lnSpc>
              <a:buNone/>
            </a:pPr>
            <a:r>
              <a:rPr lang="en-US" sz="1700" dirty="0">
                <a:solidFill>
                  <a:srgbClr val="384653"/>
                </a:solidFill>
                <a:latin typeface="Montserrat" pitchFamily="34" charset="0"/>
                <a:ea typeface="Montserrat" pitchFamily="34" charset="-122"/>
                <a:cs typeface="Montserrat" pitchFamily="34" charset="-120"/>
              </a:rPr>
              <a:t>The journey to secure clean water and sanitation for everyone by 2030 is ongoing. It demands sustained collaboration, innovative solutions, and unwavering commitment from governments, organizations, and individuals worldwide. Together, we can turn this ambitious </a:t>
            </a:r>
            <a:r>
              <a:rPr lang="en-US" sz="1700" dirty="0">
                <a:solidFill>
                  <a:srgbClr val="384653"/>
                </a:solidFill>
                <a:latin typeface="ADLaM Display" panose="020F0502020204030204" pitchFamily="2" charset="0"/>
                <a:ea typeface="ADLaM Display" panose="020F0502020204030204" pitchFamily="2" charset="0"/>
                <a:cs typeface="ADLaM Display" panose="020F0502020204030204" pitchFamily="2" charset="0"/>
              </a:rPr>
              <a:t>goal</a:t>
            </a:r>
            <a:r>
              <a:rPr lang="en-US" sz="1700" dirty="0">
                <a:solidFill>
                  <a:srgbClr val="384653"/>
                </a:solidFill>
                <a:latin typeface="Montserrat" pitchFamily="34" charset="0"/>
                <a:ea typeface="Montserrat" pitchFamily="34" charset="-122"/>
                <a:cs typeface="Montserrat" pitchFamily="34" charset="-120"/>
              </a:rPr>
              <a:t> into a universal reality, transforming lives and safeguarding our planet for generations to come.</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1073</Words>
  <Application>Microsoft Office PowerPoint</Application>
  <PresentationFormat>Custom</PresentationFormat>
  <Paragraphs>97</Paragraphs>
  <Slides>15</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Times New Roman</vt:lpstr>
      <vt:lpstr>Montserrat</vt:lpstr>
      <vt:lpstr>Barlow Bold</vt:lpstr>
      <vt:lpstr>Arial</vt:lpstr>
      <vt:lpstr>ADLaM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narayan behera</dc:creator>
  <cp:lastModifiedBy>NARAYAN NIRANJAN BEHERA</cp:lastModifiedBy>
  <cp:revision>7</cp:revision>
  <dcterms:created xsi:type="dcterms:W3CDTF">2026-04-22T05:34:10Z</dcterms:created>
  <dcterms:modified xsi:type="dcterms:W3CDTF">2026-04-22T18:49:58Z</dcterms:modified>
</cp:coreProperties>
</file>